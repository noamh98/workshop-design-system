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84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dPt>
            <c:idx val="0"/>
            <c:bubble3D val="0"/>
            <c:spPr>
              <a:solidFill>
                <a:srgbClr val="B0332E"/>
              </a:solidFill>
            </c:spPr>
            <c:extLst>
              <c:ext xmlns:c16="http://schemas.microsoft.com/office/drawing/2014/chart" uri="{C3380CC4-5D6E-409C-BE32-E72D297353CC}">
                <c16:uniqueId val="{00000001-65B0-4558-B2BC-9B1F694397D8}"/>
              </c:ext>
            </c:extLst>
          </c:dPt>
          <c:dPt>
            <c:idx val="1"/>
            <c:bubble3D val="0"/>
            <c:spPr>
              <a:solidFill>
                <a:srgbClr val="C1631A"/>
              </a:solidFill>
            </c:spPr>
            <c:extLst>
              <c:ext xmlns:c16="http://schemas.microsoft.com/office/drawing/2014/chart" uri="{C3380CC4-5D6E-409C-BE32-E72D297353CC}">
                <c16:uniqueId val="{00000003-65B0-4558-B2BC-9B1F694397D8}"/>
              </c:ext>
            </c:extLst>
          </c:dPt>
          <c:dPt>
            <c:idx val="2"/>
            <c:bubble3D val="0"/>
            <c:spPr>
              <a:solidFill>
                <a:srgbClr val="1E5A8C"/>
              </a:solidFill>
            </c:spPr>
            <c:extLst>
              <c:ext xmlns:c16="http://schemas.microsoft.com/office/drawing/2014/chart" uri="{C3380CC4-5D6E-409C-BE32-E72D297353CC}">
                <c16:uniqueId val="{00000005-65B0-4558-B2BC-9B1F694397D8}"/>
              </c:ext>
            </c:extLst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Email</c:v>
                </c:pt>
                <c:pt idx="2">
                  <c:v>Digital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33</c:v>
                </c:pt>
                <c:pt idx="2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5B0-4558-B2BC-9B1F69439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he-I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0332E"/>
              </a:solidFill>
            </c:spPr>
            <c:extLst>
              <c:ext xmlns:c16="http://schemas.microsoft.com/office/drawing/2014/chart" uri="{C3380CC4-5D6E-409C-BE32-E72D297353CC}">
                <c16:uniqueId val="{00000001-D524-4AA4-B68E-58EA6B2496A7}"/>
              </c:ext>
            </c:extLst>
          </c:dPt>
          <c:dPt>
            <c:idx val="1"/>
            <c:invertIfNegative val="1"/>
            <c:bubble3D val="0"/>
            <c:spPr>
              <a:solidFill>
                <a:srgbClr val="C1631A"/>
              </a:solidFill>
            </c:spPr>
            <c:extLst>
              <c:ext xmlns:c16="http://schemas.microsoft.com/office/drawing/2014/chart" uri="{C3380CC4-5D6E-409C-BE32-E72D297353CC}">
                <c16:uniqueId val="{00000003-D524-4AA4-B68E-58EA6B2496A7}"/>
              </c:ext>
            </c:extLst>
          </c:dPt>
          <c:dPt>
            <c:idx val="2"/>
            <c:invertIfNegative val="1"/>
            <c:bubble3D val="0"/>
            <c:spPr>
              <a:solidFill>
                <a:srgbClr val="1E5A8C"/>
              </a:solidFill>
            </c:spPr>
            <c:extLst>
              <c:ext xmlns:c16="http://schemas.microsoft.com/office/drawing/2014/chart" uri="{C3380CC4-5D6E-409C-BE32-E72D297353CC}">
                <c16:uniqueId val="{00000005-D524-4AA4-B68E-58EA6B2496A7}"/>
              </c:ext>
            </c:extLst>
          </c:dPt>
          <c:dPt>
            <c:idx val="3"/>
            <c:invertIfNegative val="1"/>
            <c:bubble3D val="0"/>
            <c:spPr>
              <a:solidFill>
                <a:srgbClr val="3F7A44"/>
              </a:solidFill>
            </c:spPr>
            <c:extLst>
              <c:ext xmlns:c16="http://schemas.microsoft.com/office/drawing/2014/chart" uri="{C3380CC4-5D6E-409C-BE32-E72D297353CC}">
                <c16:uniqueId val="{00000007-D524-4AA4-B68E-58EA6B2496A7}"/>
              </c:ext>
            </c:extLst>
          </c:dPt>
          <c:cat>
            <c:strRef>
              <c:f>Sheet1!$A$2:$A$5</c:f>
              <c:strCache>
                <c:ptCount val="4"/>
                <c:pt idx="0">
                  <c:v>Sanit.</c:v>
                </c:pt>
                <c:pt idx="1">
                  <c:v>Billing</c:v>
                </c:pt>
                <c:pt idx="2">
                  <c:v>Eng.</c:v>
                </c:pt>
                <c:pt idx="3">
                  <c:v>Welfare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29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24-4AA4-B68E-58EA6B249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68027336"/>
        <c:axId val="1113994440"/>
      </c:barChart>
      <c:catAx>
        <c:axId val="1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113994440"/>
        <c:crosses val="autoZero"/>
        <c:auto val="1"/>
        <c:lblAlgn val="ctr"/>
        <c:lblOffset val="100"/>
        <c:noMultiLvlLbl val="0"/>
      </c:catAx>
      <c:valAx>
        <c:axId val="1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ln w="31750">
              <a:solidFill>
                <a:srgbClr val="3F7A44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8.6</c:v>
                </c:pt>
                <c:pt idx="2">
                  <c:v>8.1</c:v>
                </c:pt>
                <c:pt idx="3">
                  <c:v>7.2</c:v>
                </c:pt>
                <c:pt idx="4">
                  <c:v>6.4</c:v>
                </c:pt>
                <c:pt idx="5">
                  <c:v>5.5</c:v>
                </c:pt>
                <c:pt idx="6">
                  <c:v>4.8</c:v>
                </c:pt>
                <c:pt idx="7">
                  <c:v>4.0999999999999996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C5-46DB-AA7E-76FAE3ED0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Playpen Sans Hebrew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Playpen Sans Hebrew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Playpen Sans Hebrew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Playpen Sans Hebrew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Playpen Sans Hebrew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Playpen Sans Hebrew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Playpen Sans Hebrew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Playpen Sans Hebrew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Playpen Sans Hebrew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7.png"/><Relationship Id="rId12" Type="http://schemas.openxmlformats.org/officeDocument/2006/relationships/image" Target="../media/image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pic>
        <p:nvPicPr>
          <p:cNvPr id="3" name="Picture 2" descr="icon-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94560"/>
            <a:ext cx="10972800" cy="9438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58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Workshop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3000" b="0" i="0">
                <a:solidFill>
                  <a:srgbClr val="1B4B66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מערכת העיצוב — תבנית מצגת מנהלים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97680"/>
            <a:ext cx="109728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5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PowerPoint template · English + </a:t>
            </a:r>
            <a:r>
              <a:rPr lang="he-IL" sz="15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עברית · </a:t>
            </a:r>
            <a:r>
              <a:rPr lang="en-US" sz="15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six-ink system · editable objects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5852160"/>
            <a:ext cx="310896" cy="310896"/>
          </a:xfrm>
          <a:prstGeom prst="ellipse">
            <a:avLst/>
          </a:prstGeom>
          <a:solidFill>
            <a:srgbClr val="1B1E23"/>
          </a:solidFill>
          <a:ln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61288" y="5852160"/>
            <a:ext cx="310896" cy="310896"/>
          </a:xfrm>
          <a:prstGeom prst="ellipse">
            <a:avLst/>
          </a:prstGeom>
          <a:solidFill>
            <a:srgbClr val="1E5A8C"/>
          </a:solidFill>
          <a:ln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9" name="Oval 8"/>
          <p:cNvSpPr/>
          <p:nvPr/>
        </p:nvSpPr>
        <p:spPr>
          <a:xfrm>
            <a:off x="1664208" y="5852160"/>
            <a:ext cx="310896" cy="310896"/>
          </a:xfrm>
          <a:prstGeom prst="ellipse">
            <a:avLst/>
          </a:prstGeom>
          <a:solidFill>
            <a:srgbClr val="B0332E"/>
          </a:solidFill>
          <a:ln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167128" y="5852160"/>
            <a:ext cx="310896" cy="310896"/>
          </a:xfrm>
          <a:prstGeom prst="ellipse">
            <a:avLst/>
          </a:prstGeom>
          <a:solidFill>
            <a:srgbClr val="3F7A44"/>
          </a:solidFill>
          <a:ln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670048" y="5852160"/>
            <a:ext cx="310896" cy="310896"/>
          </a:xfrm>
          <a:prstGeom prst="ellipse">
            <a:avLst/>
          </a:prstGeom>
          <a:solidFill>
            <a:srgbClr val="C1631A"/>
          </a:solidFill>
          <a:ln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172968" y="5852160"/>
            <a:ext cx="310896" cy="310896"/>
          </a:xfrm>
          <a:prstGeom prst="ellipse">
            <a:avLst/>
          </a:prstGeom>
          <a:solidFill>
            <a:srgbClr val="6B4E9E"/>
          </a:solidFill>
          <a:ln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5870448"/>
            <a:ext cx="804672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lang="en-US" sz="1200" b="0" i="1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element gallery — duplicate any slide and edit in 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אג'נדה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 spc="20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5720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SECTIONS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6125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Foundations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color system, typography and text styles.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Assets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a 70+ glyph icon library.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Data components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KPI cards, native charts and a comparison table.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Narrative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problem vs solution, process flow and roadmap.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Risks &amp; prioritization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risks with mitigation and a 2×2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1920240"/>
            <a:ext cx="9144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פרקים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846320" cy="31277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יסודות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מערכת צבע, טיפוגרפיה וסגנונות טקסט.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נכסים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ספריית אייקונים של 70+ סמלים.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רכיבי דאטה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כרטיסי מדד, תרשימים וטבלת השוואה.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נרטיב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בעיה מול פתרון, זרימת תהליך ומפת דרכים.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סיכונים ותעדוף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סיכונים ומענים ומטריצת 2×2.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How to use this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כיצד להשתמש בתבנית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START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5720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6125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This deck is a component gallery.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Duplicate any slide and replace its content — the colors, fonts and layouts are already on-brand.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Six inks are semantic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never remap them: black=structure, blue=future, red=problems, green=solutions, orange=risks, purple=AI.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Fonts to install: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Fraunces, Frank Ruhl Libre, Inter, Heebo, IBM Plex Mono, Caveat (all free / Google Fonts).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No emoji, no gradients.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Numbers and Latin terms stay LTR inside Hebrew text.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Hand-sketch mode is HTML-only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this .pptx uses the clean brand mode instead.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1920240"/>
            <a:ext cx="9144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עברית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846320" cy="31277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המצגת הזו היא גלריית רכיבים.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שכפלו כל שקף והחליפו תוכן — הצבעים, הפונטים והפריסות כבר במותג.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שש הדיו סמנטיות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אין למפות מחדש: שחור=מבנה, כחול=עתיד, אדום=בעיות, ירוק=פתרונות, כתום=סיכונים, סגול=AI.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פונטים להתקנה: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Fraunces, Frank Ruhl Libre, Inter, Heebo, IBM Plex Mono, Caveat.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בלי אימוג'י, בלי גרדיאנטים.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מספרים ומונחים לועזיים נשארים LTR בתוך טקסט עברי.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מצב הסקיצה קיים רק ב-HTML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כאן משתמשים במצב המותג הנקי.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The six-ink color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מערכת שש הדיו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2" y="1947672"/>
            <a:ext cx="914400" cy="914400"/>
          </a:xfrm>
          <a:prstGeom prst="rect">
            <a:avLst/>
          </a:prstGeom>
          <a:solidFill>
            <a:srgbClr val="1B1E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3080" y="1929384"/>
            <a:ext cx="2194560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9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Black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350008"/>
            <a:ext cx="21945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#1B1E23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32004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2"/>
            <a:ext cx="32004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מבנה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78308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89704" y="1947672"/>
            <a:ext cx="914400" cy="914400"/>
          </a:xfrm>
          <a:prstGeom prst="rect">
            <a:avLst/>
          </a:prstGeom>
          <a:solidFill>
            <a:srgbClr val="1E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59552" y="1929384"/>
            <a:ext cx="2194560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900" b="1" i="0">
                <a:solidFill>
                  <a:srgbClr val="1E5A8C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350008"/>
            <a:ext cx="21945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#1E5A8C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017520"/>
            <a:ext cx="32004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 dirty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Future / ideas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10712"/>
            <a:ext cx="32004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עתיד / רעיונות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78308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66176" y="1947672"/>
            <a:ext cx="914400" cy="914400"/>
          </a:xfrm>
          <a:prstGeom prst="rect">
            <a:avLst/>
          </a:prstGeom>
          <a:solidFill>
            <a:srgbClr val="B0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36024" y="1929384"/>
            <a:ext cx="2194560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900" b="1" i="0">
                <a:solidFill>
                  <a:srgbClr val="B0332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350008"/>
            <a:ext cx="21945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#B0332E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017520"/>
            <a:ext cx="32004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Problems / pain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410712"/>
            <a:ext cx="32004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בעיות / מצב קיים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3232" y="4279392"/>
            <a:ext cx="914400" cy="914400"/>
          </a:xfrm>
          <a:prstGeom prst="rect">
            <a:avLst/>
          </a:prstGeom>
          <a:solidFill>
            <a:srgbClr val="3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83080" y="4261104"/>
            <a:ext cx="2194560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900" b="1" i="0">
                <a:solidFill>
                  <a:srgbClr val="3F7A44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681728"/>
            <a:ext cx="21945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#3F7A44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32004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Solutions /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42432"/>
            <a:ext cx="32004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פתרונות / הושלם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411480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89704" y="4279392"/>
            <a:ext cx="914400" cy="914400"/>
          </a:xfrm>
          <a:prstGeom prst="rect">
            <a:avLst/>
          </a:prstGeom>
          <a:solidFill>
            <a:srgbClr val="C1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59552" y="4261104"/>
            <a:ext cx="2194560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9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Orange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59552" y="4681728"/>
            <a:ext cx="21945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#C1631A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5349240"/>
            <a:ext cx="32004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Risks /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5742432"/>
            <a:ext cx="32004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סיכונים / בתהליך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4" y="4114800"/>
            <a:ext cx="356616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266176" y="4279392"/>
            <a:ext cx="914400" cy="91440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336024" y="4261104"/>
            <a:ext cx="2194560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900" b="1" i="0">
                <a:solidFill>
                  <a:srgbClr val="6B4E9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Purple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4681728"/>
            <a:ext cx="219456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#6B4E9E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5349240"/>
            <a:ext cx="32004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AI / 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5742432"/>
            <a:ext cx="32004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AI / אוטומציה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טיפוגרפיה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37744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Fraunces / Frank Ruhl Libre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06855"/>
            <a:ext cx="4937760" cy="66684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40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Executive 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06855"/>
            <a:ext cx="3840480" cy="66684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 rtl="1"/>
            <a:r>
              <a:rPr sz="40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כותרת ניהולית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60904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Body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237744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Inter / Heebo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93431"/>
            <a:ext cx="493776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Readable running text for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993431"/>
            <a:ext cx="384048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 rtl="1"/>
            <a:r>
              <a:rPr sz="20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טקסט גוף קריא לתוכן השקף.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93592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694176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05656"/>
            <a:ext cx="237744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Inter · uppercase · tracked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79980"/>
            <a:ext cx="4937760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B0332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CURRENT SITUATION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979980"/>
            <a:ext cx="3840480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 rtl="1"/>
            <a:r>
              <a:rPr sz="1300" b="0" i="0">
                <a:solidFill>
                  <a:srgbClr val="B0332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מצב נוכחי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Mono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38344"/>
            <a:ext cx="237744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IBM Plex Mono · figures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858807"/>
            <a:ext cx="493776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1E5A8C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1,247  +18%  -1.3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58807"/>
            <a:ext cx="384048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 rtl="1"/>
            <a:r>
              <a:rPr sz="2000" b="0" i="0">
                <a:solidFill>
                  <a:srgbClr val="1E5A8C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‎12,400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58968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559552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Hand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71032"/>
            <a:ext cx="237744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0" i="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Caveat (Latin annotations 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45329"/>
            <a:ext cx="4937760" cy="45140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600" b="0" i="0">
                <a:solidFill>
                  <a:srgbClr val="6B4E9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a quick note in the margin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545274"/>
            <a:ext cx="3840480" cy="85151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 rtl="1"/>
            <a:r>
              <a:rPr sz="2600" b="0" i="0">
                <a:solidFill>
                  <a:srgbClr val="6B4E9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(hand font: Latin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91656"/>
            <a:ext cx="11091672" cy="9525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Text styles, labels &amp;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סגנונות טקסט, תוויות ומספרים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5720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100" b="1" i="0" spc="150">
                <a:solidFill>
                  <a:srgbClr val="1B1E23"/>
                </a:solidFill>
                <a:latin typeface="Playpen Sans Hebrew"/>
                <a:cs typeface="Playpen Sans Hebrew"/>
              </a:rPr>
              <a:t>LABEL STYLES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85416"/>
            <a:ext cx="45720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1"/>
            <a:r>
              <a:rPr lang="he-IL" sz="1200" b="1" i="0">
                <a:solidFill>
                  <a:srgbClr val="1B1E23"/>
                </a:solidFill>
                <a:latin typeface="Playpen Sans Hebrew"/>
                <a:cs typeface="Playpen Sans Hebrew"/>
              </a:rPr>
              <a:t>סגנונות תווית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937760" cy="217803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Uppercase tracked (Latin): </a:t>
            </a:r>
            <a:r>
              <a:rPr lang="en-US" sz="1300" b="1" i="0" spc="150">
                <a:solidFill>
                  <a:srgbClr val="1B1E23"/>
                </a:solidFill>
                <a:latin typeface="Playpen Sans Hebrew"/>
                <a:cs typeface="Playpen Sans Hebrew"/>
              </a:rPr>
              <a:t>CURRENT SITUATION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Hebrew plain label: </a:t>
            </a:r>
            <a:r>
              <a:rPr lang="he-IL" sz="1400" b="1" i="0">
                <a:solidFill>
                  <a:srgbClr val="1B1E23"/>
                </a:solidFill>
                <a:latin typeface="Playpen Sans Hebrew"/>
                <a:cs typeface="Playpen Sans Hebrew"/>
              </a:rPr>
              <a:t>מצב נוכחי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Section kicker: </a:t>
            </a:r>
            <a:r>
              <a:rPr lang="en-US" sz="120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FOUNDATIONS · 01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Emphasis — highlight: </a:t>
            </a:r>
            <a:r>
              <a:rPr lang="en-US" sz="1600" b="1" i="0">
                <a:solidFill>
                  <a:srgbClr val="1B1E23"/>
                </a:solidFill>
                <a:latin typeface="Playpen Sans Hebrew"/>
                <a:cs typeface="Playpen Sans Hebrew"/>
              </a:rPr>
              <a:t>key takeaway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Emphasis — circle a number: </a:t>
            </a:r>
            <a:r>
              <a:rPr lang="en-US" sz="1500" b="1" i="0">
                <a:solidFill>
                  <a:srgbClr val="B0332E"/>
                </a:solidFill>
                <a:latin typeface="Playpen Sans Hebrew"/>
                <a:cs typeface="Playpen Sans Hebrew"/>
              </a:rPr>
              <a:t>78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Rejected idea (strike): </a:t>
            </a:r>
            <a:r>
              <a:rPr lang="en-US" sz="1300" b="0" i="1">
                <a:solidFill>
                  <a:srgbClr val="565B63"/>
                </a:solidFill>
                <a:latin typeface="Playpen Sans Hebrew"/>
                <a:cs typeface="Playpen Sans Hebrew"/>
              </a:rPr>
              <a:t>old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78308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965960"/>
            <a:ext cx="45720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100" b="1" i="0" spc="150">
                <a:solidFill>
                  <a:srgbClr val="1B1E23"/>
                </a:solidFill>
                <a:latin typeface="Playpen Sans Hebrew"/>
                <a:cs typeface="Playpen Sans Hebrew"/>
              </a:rPr>
              <a:t>NUMBERS &amp; DELTAS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85416"/>
            <a:ext cx="45720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1"/>
            <a:r>
              <a:rPr lang="he-IL" sz="1200" b="1" i="0">
                <a:solidFill>
                  <a:srgbClr val="1B1E23"/>
                </a:solidFill>
                <a:latin typeface="Playpen Sans Hebrew"/>
                <a:cs typeface="Playpen Sans Hebrew"/>
              </a:rPr>
              <a:t>מספרים ודלתאות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70939"/>
            <a:ext cx="292608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Big KPI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578606"/>
            <a:ext cx="2103120" cy="4206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lang="he-IL" sz="2400" b="1" i="0">
                <a:solidFill>
                  <a:srgbClr val="1B1E23"/>
                </a:solidFill>
                <a:latin typeface="Playpen Sans Hebrew"/>
                <a:cs typeface="Playpen Sans Hebrew"/>
              </a:rPr>
              <a:t>1,247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329307"/>
            <a:ext cx="292608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Positive delta (good)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83140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lang="he-IL" sz="1800" b="1" i="0">
                <a:solidFill>
                  <a:srgbClr val="3F7A44"/>
                </a:solidFill>
                <a:latin typeface="Playpen Sans Hebrew"/>
                <a:cs typeface="Playpen Sans Hebrew"/>
              </a:rPr>
              <a:t>+18%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987675"/>
            <a:ext cx="292608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Negative delta (bad)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941508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lang="he-IL" sz="1800" b="1" i="0">
                <a:solidFill>
                  <a:srgbClr val="B0332E"/>
                </a:solidFill>
                <a:latin typeface="Playpen Sans Hebrew"/>
                <a:cs typeface="Playpen Sans Hebrew"/>
              </a:rPr>
              <a:t>-9%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646043"/>
            <a:ext cx="292608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Negative-is-good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599876"/>
            <a:ext cx="210312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lang="en-US" sz="1800" b="1" i="0">
                <a:solidFill>
                  <a:srgbClr val="3F7A44"/>
                </a:solidFill>
                <a:latin typeface="Playpen Sans Hebrew"/>
                <a:cs typeface="Playpen Sans Hebrew"/>
              </a:rPr>
              <a:t>-1.3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304411"/>
            <a:ext cx="292608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Hebrew + LTR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5273633"/>
            <a:ext cx="210312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 rtl="1"/>
            <a:r>
              <a:rPr lang="he-IL" sz="1600" b="1" i="0">
                <a:solidFill>
                  <a:srgbClr val="1B1E23"/>
                </a:solidFill>
                <a:latin typeface="Playpen Sans Hebrew"/>
                <a:cs typeface="Playpen Sans Hebrew"/>
              </a:rPr>
              <a:t>זמן מענה 9 ימים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806440"/>
            <a:ext cx="49377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200" b="0" i="1">
                <a:solidFill>
                  <a:srgbClr val="565B63"/>
                </a:solidFill>
                <a:latin typeface="Playpen Sans Hebrew"/>
                <a:cs typeface="Playpen Sans Hebrew"/>
              </a:rPr>
              <a:t>Rule: color deltas by meaning, not by 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Icon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ספריית אייקונים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ASSETS · 70+ GLYPHS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con-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28800"/>
            <a:ext cx="621792" cy="621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1208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mail</a:t>
            </a:r>
          </a:p>
        </p:txBody>
      </p:sp>
      <p:pic>
        <p:nvPicPr>
          <p:cNvPr id="8" name="Picture 7" descr="icon-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828800"/>
            <a:ext cx="621792" cy="621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64792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phone</a:t>
            </a:r>
          </a:p>
        </p:txBody>
      </p:sp>
      <p:pic>
        <p:nvPicPr>
          <p:cNvPr id="10" name="Picture 9" descr="icon-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828800"/>
            <a:ext cx="621792" cy="621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08376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clock</a:t>
            </a:r>
          </a:p>
        </p:txBody>
      </p:sp>
      <p:pic>
        <p:nvPicPr>
          <p:cNvPr id="12" name="Picture 11" descr="icon-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1828800"/>
            <a:ext cx="621792" cy="621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51960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user</a:t>
            </a:r>
          </a:p>
        </p:txBody>
      </p:sp>
      <p:pic>
        <p:nvPicPr>
          <p:cNvPr id="14" name="Picture 13" descr="icon-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1828800"/>
            <a:ext cx="621792" cy="6217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95544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users</a:t>
            </a:r>
          </a:p>
        </p:txBody>
      </p:sp>
      <p:pic>
        <p:nvPicPr>
          <p:cNvPr id="16" name="Picture 15" descr="icon-chart-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44" y="1828800"/>
            <a:ext cx="621792" cy="621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39128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chart-bar</a:t>
            </a:r>
          </a:p>
        </p:txBody>
      </p:sp>
      <p:pic>
        <p:nvPicPr>
          <p:cNvPr id="18" name="Picture 17" descr="icon-chart-p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1828800"/>
            <a:ext cx="621792" cy="621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82712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chart-pie</a:t>
            </a:r>
          </a:p>
        </p:txBody>
      </p:sp>
      <p:pic>
        <p:nvPicPr>
          <p:cNvPr id="20" name="Picture 19" descr="icon-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2912" y="1828800"/>
            <a:ext cx="621792" cy="6217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26296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target</a:t>
            </a:r>
          </a:p>
        </p:txBody>
      </p:sp>
      <p:pic>
        <p:nvPicPr>
          <p:cNvPr id="22" name="Picture 21" descr="icon-trend-u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6496" y="1828800"/>
            <a:ext cx="621792" cy="6217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69880" y="2487168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trend-up</a:t>
            </a:r>
          </a:p>
        </p:txBody>
      </p:sp>
      <p:pic>
        <p:nvPicPr>
          <p:cNvPr id="24" name="Picture 23" descr="icon-trend-dow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" y="2999232"/>
            <a:ext cx="621792" cy="6217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1208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trend-down</a:t>
            </a:r>
          </a:p>
        </p:txBody>
      </p:sp>
      <p:pic>
        <p:nvPicPr>
          <p:cNvPr id="26" name="Picture 25" descr="icon-cp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1408" y="2999232"/>
            <a:ext cx="621792" cy="6217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64792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cpu</a:t>
            </a:r>
          </a:p>
        </p:txBody>
      </p:sp>
      <p:pic>
        <p:nvPicPr>
          <p:cNvPr id="28" name="Picture 27" descr="icon-rob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4992" y="2999232"/>
            <a:ext cx="621792" cy="6217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008376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robot</a:t>
            </a:r>
          </a:p>
        </p:txBody>
      </p:sp>
      <p:pic>
        <p:nvPicPr>
          <p:cNvPr id="30" name="Picture 29" descr="icon-sparkl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08576" y="2999232"/>
            <a:ext cx="621792" cy="6217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51960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sparkle</a:t>
            </a:r>
          </a:p>
        </p:txBody>
      </p:sp>
      <p:pic>
        <p:nvPicPr>
          <p:cNvPr id="32" name="Picture 31" descr="icon-shield-chec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2160" y="2999232"/>
            <a:ext cx="621792" cy="6217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95544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shield-check</a:t>
            </a:r>
          </a:p>
        </p:txBody>
      </p:sp>
      <p:pic>
        <p:nvPicPr>
          <p:cNvPr id="34" name="Picture 33" descr="icon-warning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95744" y="2999232"/>
            <a:ext cx="621792" cy="6217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39128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warning</a:t>
            </a:r>
          </a:p>
        </p:txBody>
      </p:sp>
      <p:pic>
        <p:nvPicPr>
          <p:cNvPr id="36" name="Picture 35" descr="icon-che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9328" y="2999232"/>
            <a:ext cx="621792" cy="6217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82712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check</a:t>
            </a:r>
          </a:p>
        </p:txBody>
      </p:sp>
      <p:pic>
        <p:nvPicPr>
          <p:cNvPr id="38" name="Picture 37" descr="icon-rocke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82912" y="2999232"/>
            <a:ext cx="621792" cy="6217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226296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rocket</a:t>
            </a:r>
          </a:p>
        </p:txBody>
      </p:sp>
      <p:pic>
        <p:nvPicPr>
          <p:cNvPr id="40" name="Picture 39" descr="icon-lightbul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6496" y="2999232"/>
            <a:ext cx="621792" cy="62179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469880" y="3657600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lightbulb</a:t>
            </a:r>
          </a:p>
        </p:txBody>
      </p:sp>
      <p:pic>
        <p:nvPicPr>
          <p:cNvPr id="42" name="Picture 41" descr="icon-calenda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7824" y="4169664"/>
            <a:ext cx="621792" cy="6217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21208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calendar</a:t>
            </a:r>
          </a:p>
        </p:txBody>
      </p:sp>
      <p:pic>
        <p:nvPicPr>
          <p:cNvPr id="44" name="Picture 43" descr="icon-gea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21408" y="4169664"/>
            <a:ext cx="621792" cy="62179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64792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gear</a:t>
            </a:r>
          </a:p>
        </p:txBody>
      </p:sp>
      <p:pic>
        <p:nvPicPr>
          <p:cNvPr id="46" name="Picture 45" descr="icon-databas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64992" y="4169664"/>
            <a:ext cx="621792" cy="62179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008376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database</a:t>
            </a:r>
          </a:p>
        </p:txBody>
      </p:sp>
      <p:pic>
        <p:nvPicPr>
          <p:cNvPr id="48" name="Picture 47" descr="icon-glob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08576" y="4169664"/>
            <a:ext cx="621792" cy="6217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51960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globe</a:t>
            </a:r>
          </a:p>
        </p:txBody>
      </p:sp>
      <p:pic>
        <p:nvPicPr>
          <p:cNvPr id="50" name="Picture 49" descr="icon-search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52160" y="4169664"/>
            <a:ext cx="621792" cy="62179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95544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search</a:t>
            </a:r>
          </a:p>
        </p:txBody>
      </p:sp>
      <p:pic>
        <p:nvPicPr>
          <p:cNvPr id="52" name="Picture 51" descr="icon-flag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95744" y="4169664"/>
            <a:ext cx="621792" cy="62179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739128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flag</a:t>
            </a:r>
          </a:p>
        </p:txBody>
      </p:sp>
      <p:pic>
        <p:nvPicPr>
          <p:cNvPr id="54" name="Picture 53" descr="icon-sta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39328" y="4169664"/>
            <a:ext cx="621792" cy="6217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82712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star</a:t>
            </a:r>
          </a:p>
        </p:txBody>
      </p:sp>
      <p:pic>
        <p:nvPicPr>
          <p:cNvPr id="56" name="Picture 55" descr="icon-handshak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582912" y="4169664"/>
            <a:ext cx="621792" cy="62179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226296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handshake</a:t>
            </a:r>
          </a:p>
        </p:txBody>
      </p:sp>
      <p:pic>
        <p:nvPicPr>
          <p:cNvPr id="58" name="Picture 57" descr="icon-building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26496" y="4169664"/>
            <a:ext cx="621792" cy="62179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469880" y="4828032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building</a:t>
            </a:r>
          </a:p>
        </p:txBody>
      </p:sp>
      <p:pic>
        <p:nvPicPr>
          <p:cNvPr id="60" name="Picture 59" descr="icon-map-pi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77824" y="5340096"/>
            <a:ext cx="621792" cy="62179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21208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map-pin</a:t>
            </a:r>
          </a:p>
        </p:txBody>
      </p:sp>
      <p:pic>
        <p:nvPicPr>
          <p:cNvPr id="62" name="Picture 61" descr="icon-file-text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21408" y="5340096"/>
            <a:ext cx="621792" cy="62179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764792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file-text</a:t>
            </a:r>
          </a:p>
        </p:txBody>
      </p:sp>
      <p:pic>
        <p:nvPicPr>
          <p:cNvPr id="64" name="Picture 63" descr="icon-lock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64992" y="5340096"/>
            <a:ext cx="621792" cy="62179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008376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lock</a:t>
            </a:r>
          </a:p>
        </p:txBody>
      </p:sp>
      <p:pic>
        <p:nvPicPr>
          <p:cNvPr id="66" name="Picture 65" descr="icon-key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08576" y="5340096"/>
            <a:ext cx="621792" cy="62179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251960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key</a:t>
            </a:r>
          </a:p>
        </p:txBody>
      </p:sp>
      <p:pic>
        <p:nvPicPr>
          <p:cNvPr id="68" name="Picture 67" descr="icon-trophy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52160" y="5340096"/>
            <a:ext cx="621792" cy="62179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495544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trophy</a:t>
            </a:r>
          </a:p>
        </p:txBody>
      </p:sp>
      <p:pic>
        <p:nvPicPr>
          <p:cNvPr id="70" name="Picture 69" descr="icon-rout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095744" y="5340096"/>
            <a:ext cx="621792" cy="62179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739128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route</a:t>
            </a:r>
          </a:p>
        </p:txBody>
      </p:sp>
      <p:pic>
        <p:nvPicPr>
          <p:cNvPr id="72" name="Picture 71" descr="icon-layers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39328" y="5340096"/>
            <a:ext cx="621792" cy="62179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982712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layers</a:t>
            </a:r>
          </a:p>
        </p:txBody>
      </p:sp>
      <p:pic>
        <p:nvPicPr>
          <p:cNvPr id="74" name="Picture 73" descr="icon-gau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82912" y="5340096"/>
            <a:ext cx="621792" cy="621792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226296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gauge</a:t>
            </a:r>
          </a:p>
        </p:txBody>
      </p:sp>
      <p:pic>
        <p:nvPicPr>
          <p:cNvPr id="76" name="Picture 75" descr="icon-list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26496" y="5340096"/>
            <a:ext cx="621792" cy="621792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469880" y="5998464"/>
            <a:ext cx="1243584" cy="1821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850" b="0" i="0">
                <a:solidFill>
                  <a:srgbClr val="565B63"/>
                </a:solidFill>
                <a:latin typeface="Playpen Sans Hebrew"/>
                <a:cs typeface="Playpen Sans Hebrew"/>
              </a:rPr>
              <a:t>list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309360"/>
            <a:ext cx="109728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100" b="0" i="1">
                <a:solidFill>
                  <a:srgbClr val="565B63"/>
                </a:solidFill>
                <a:latin typeface="Playpen Sans Hebrew"/>
                <a:cs typeface="Playpen Sans Hebrew"/>
              </a:rPr>
              <a:t>Own stroke set · 24×24 · round caps · currentColor · hatch-fill duotone variants · reference: &lt;use href="#icon-name"&gt;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KPI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כרטיסי מדד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95728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063240"/>
            <a:ext cx="233172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500" b="1" i="0">
                <a:solidFill>
                  <a:srgbClr val="B0332E"/>
                </a:solidFill>
                <a:latin typeface="Playpen Sans Hebrew"/>
                <a:cs typeface="Playpen Sans Hebrew"/>
              </a:rPr>
              <a:t>פניות בחודש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233172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he-IL" sz="4000" b="1" i="0">
                <a:solidFill>
                  <a:srgbClr val="1B1E23"/>
                </a:solidFill>
                <a:latin typeface="Playpen Sans Hebrew"/>
                <a:cs typeface="Playpen Sans Hebrew"/>
              </a:rPr>
              <a:t>12,400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23317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he-IL" sz="1600" b="1" i="0">
                <a:solidFill>
                  <a:srgbClr val="B0332E"/>
                </a:solidFill>
                <a:latin typeface="Playpen Sans Hebrew"/>
                <a:cs typeface="Playpen Sans Hebrew"/>
              </a:rPr>
              <a:t>+18%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233172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100" b="0" i="0">
                <a:solidFill>
                  <a:srgbClr val="565B63"/>
                </a:solidFill>
                <a:latin typeface="Playpen Sans Hebrew"/>
                <a:cs typeface="Playpen Sans Hebrew"/>
              </a:rPr>
              <a:t>מול שנה שעברה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-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3957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29584" y="3063240"/>
            <a:ext cx="233172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500" b="1" i="0">
                <a:solidFill>
                  <a:srgbClr val="B0332E"/>
                </a:solidFill>
                <a:latin typeface="Playpen Sans Hebrew"/>
                <a:cs typeface="Playpen Sans Hebrew"/>
              </a:rPr>
              <a:t>זמן מענה ממוצע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3520440"/>
            <a:ext cx="233172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4000" b="1" i="0">
                <a:solidFill>
                  <a:srgbClr val="1B1E23"/>
                </a:solidFill>
                <a:latin typeface="Playpen Sans Hebrew"/>
                <a:cs typeface="Playpen Sans Hebrew"/>
              </a:rPr>
              <a:t>9 ימים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4343400"/>
            <a:ext cx="23317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he-IL" sz="1600" b="1" i="0">
                <a:solidFill>
                  <a:srgbClr val="B0332E"/>
                </a:solidFill>
                <a:latin typeface="Playpen Sans Hebrew"/>
                <a:cs typeface="Playpen Sans Hebrew"/>
              </a:rPr>
              <a:t>+1.5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4800600"/>
            <a:ext cx="233172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100" b="0" i="0">
                <a:solidFill>
                  <a:srgbClr val="565B63"/>
                </a:solidFill>
                <a:latin typeface="Playpen Sans Hebrew"/>
                <a:cs typeface="Playpen Sans Hebrew"/>
              </a:rPr>
              <a:t>מול רבעון קודם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395728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27648" y="3063240"/>
            <a:ext cx="233172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500" b="1" i="0">
                <a:solidFill>
                  <a:srgbClr val="C1631A"/>
                </a:solidFill>
                <a:latin typeface="Playpen Sans Hebrew"/>
                <a:cs typeface="Playpen Sans Hebrew"/>
              </a:rPr>
              <a:t>שיחות ננטשות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520440"/>
            <a:ext cx="233172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he-IL" sz="4000" b="1" i="0">
                <a:solidFill>
                  <a:srgbClr val="1B1E23"/>
                </a:solidFill>
                <a:latin typeface="Playpen Sans Hebrew"/>
                <a:cs typeface="Playpen Sans Hebrew"/>
              </a:rPr>
              <a:t>31%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343400"/>
            <a:ext cx="23317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he-IL" sz="1600" b="1" i="0">
                <a:solidFill>
                  <a:srgbClr val="C1631A"/>
                </a:solidFill>
                <a:latin typeface="Playpen Sans Hebrew"/>
                <a:cs typeface="Playpen Sans Hebrew"/>
              </a:rPr>
              <a:t>+6%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800600"/>
            <a:ext cx="233172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100" b="0" i="0">
                <a:solidFill>
                  <a:srgbClr val="565B63"/>
                </a:solidFill>
                <a:latin typeface="Playpen Sans Hebrew"/>
                <a:cs typeface="Playpen Sans Hebrew"/>
              </a:rPr>
              <a:t>מול רבעון קודם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2194560"/>
            <a:ext cx="2697480" cy="31089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-trend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2" y="2395728"/>
            <a:ext cx="548640" cy="548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25712" y="3063240"/>
            <a:ext cx="233172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500" b="1" i="0">
                <a:solidFill>
                  <a:srgbClr val="3F7A44"/>
                </a:solidFill>
                <a:latin typeface="Playpen Sans Hebrew"/>
                <a:cs typeface="Playpen Sans Hebrew"/>
              </a:rPr>
              <a:t>שביעות רצון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520440"/>
            <a:ext cx="233172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he-IL" sz="4000" b="1" i="0">
                <a:solidFill>
                  <a:srgbClr val="1B1E23"/>
                </a:solidFill>
                <a:latin typeface="Playpen Sans Hebrew"/>
                <a:cs typeface="Playpen Sans Hebrew"/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4343400"/>
            <a:ext cx="23317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he-IL" sz="1600" b="1" i="0">
                <a:solidFill>
                  <a:srgbClr val="3F7A44"/>
                </a:solidFill>
                <a:latin typeface="Playpen Sans Hebrew"/>
                <a:cs typeface="Playpen Sans Hebrew"/>
              </a:rPr>
              <a:t>+18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4800600"/>
            <a:ext cx="233172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100" b="0" i="0">
                <a:solidFill>
                  <a:srgbClr val="565B63"/>
                </a:solidFill>
                <a:latin typeface="Playpen Sans Hebrew"/>
                <a:cs typeface="Playpen Sans Hebrew"/>
              </a:rPr>
              <a:t>יעד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Problem 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בעיה מול 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0292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100" b="1" i="0" spc="150">
                <a:solidFill>
                  <a:srgbClr val="1B1E23"/>
                </a:solidFill>
                <a:latin typeface="Playpen Sans Hebrew"/>
                <a:cs typeface="Playpen Sans Hebrew"/>
              </a:rPr>
              <a:t>CURRENT — PAIN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22576"/>
            <a:ext cx="45720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1"/>
            <a:r>
              <a:rPr lang="he-IL" sz="1200" b="1" i="0">
                <a:solidFill>
                  <a:srgbClr val="1B1E23"/>
                </a:solidFill>
                <a:latin typeface="Playpen Sans Hebrew"/>
                <a:cs typeface="Playpen Sans Hebrew"/>
              </a:rPr>
              <a:t>היום — הכאב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572000" cy="148245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תהליך ידני</a:t>
            </a:r>
          </a:p>
          <a:p>
            <a:pPr algn="r" rtl="1">
              <a:spcAft>
                <a:spcPts val="1000"/>
              </a:spcAft>
            </a:pP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חוסר נראות</a:t>
            </a:r>
          </a:p>
          <a:p>
            <a:pPr algn="r" rtl="1">
              <a:spcAft>
                <a:spcPts val="1000"/>
              </a:spcAft>
            </a:pP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פניות הולכות לאיבוד</a:t>
            </a:r>
          </a:p>
          <a:p>
            <a:pPr algn="r" rtl="1">
              <a:spcAft>
                <a:spcPts val="1000"/>
              </a:spcAft>
            </a:pP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אין דוחות להנהלה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5715000" y="3749039"/>
            <a:ext cx="777240" cy="548640"/>
          </a:xfrm>
          <a:prstGeom prst="rightArrow">
            <a:avLst/>
          </a:prstGeom>
          <a:solidFill>
            <a:srgbClr val="3F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11112" y="1920240"/>
            <a:ext cx="50292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2103120"/>
            <a:ext cx="45720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100" b="1" i="0" spc="150">
                <a:solidFill>
                  <a:srgbClr val="1B1E23"/>
                </a:solidFill>
                <a:latin typeface="Playpen Sans Hebrew"/>
                <a:cs typeface="Playpen Sans Hebrew"/>
              </a:rPr>
              <a:t>FUTURE —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2322576"/>
            <a:ext cx="45720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1"/>
            <a:r>
              <a:rPr lang="he-IL" sz="1200" b="1" i="0">
                <a:solidFill>
                  <a:srgbClr val="1B1E23"/>
                </a:solidFill>
                <a:latin typeface="Playpen Sans Hebrew"/>
                <a:cs typeface="Playpen Sans Hebrew"/>
              </a:rPr>
              <a:t>מחר — הפתרון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2834640"/>
            <a:ext cx="4572000" cy="148245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✓ פלטפורמה מרכזית אחת</a:t>
            </a:r>
          </a:p>
          <a:p>
            <a:pPr algn="r" rtl="1">
              <a:spcAft>
                <a:spcPts val="1000"/>
              </a:spcAft>
            </a:pP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✓ סיווג בסיוע </a:t>
            </a:r>
            <a:r>
              <a:rPr lang="en-US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AI</a:t>
            </a:r>
          </a:p>
          <a:p>
            <a:pPr algn="r" rtl="1">
              <a:spcAft>
                <a:spcPts val="1000"/>
              </a:spcAft>
            </a:pPr>
            <a:r>
              <a:rPr lang="en-US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✓ </a:t>
            </a: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ניתוב אוטומטי לבעלים</a:t>
            </a:r>
          </a:p>
          <a:p>
            <a:pPr algn="r" rtl="1">
              <a:spcAft>
                <a:spcPts val="1000"/>
              </a:spcAft>
            </a:pPr>
            <a:r>
              <a:rPr lang="he-IL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✓ דשבורד ב-</a:t>
            </a:r>
            <a:r>
              <a:rPr lang="en-US" sz="1700" b="0" i="0">
                <a:solidFill>
                  <a:srgbClr val="1B1E23"/>
                </a:solidFill>
                <a:latin typeface="Playpen Sans Hebrew"/>
                <a:cs typeface="Playpen Sans Hebrew"/>
              </a:rPr>
              <a:t>Real-time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זרימת תהליך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9556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6456" y="3511296"/>
            <a:ext cx="566928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21240" y="4480560"/>
            <a:ext cx="173736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1"/>
            <a:r>
              <a:rPr lang="he-IL" sz="1500" b="1" i="0">
                <a:solidFill>
                  <a:srgbClr val="1B1E23"/>
                </a:solidFill>
                <a:latin typeface="Playpen Sans Hebrew"/>
                <a:cs typeface="Playpen Sans Hebrew"/>
              </a:rPr>
              <a:t>קליטה</a:t>
            </a:r>
          </a:p>
        </p:txBody>
      </p:sp>
      <p:sp>
        <p:nvSpPr>
          <p:cNvPr id="9" name="Left Arrow 8"/>
          <p:cNvSpPr/>
          <p:nvPr/>
        </p:nvSpPr>
        <p:spPr>
          <a:xfrm>
            <a:off x="9011412" y="3657600"/>
            <a:ext cx="1202436" cy="274320"/>
          </a:xfrm>
          <a:prstGeom prst="leftArrow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4098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n-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76" y="3511296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66660" y="4480560"/>
            <a:ext cx="173736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1"/>
            <a:r>
              <a:rPr lang="he-IL" sz="1500" b="1" i="0">
                <a:solidFill>
                  <a:srgbClr val="6B4E9E"/>
                </a:solidFill>
                <a:latin typeface="Playpen Sans Hebrew"/>
                <a:cs typeface="Playpen Sans Hebrew"/>
              </a:rPr>
              <a:t>סיווג </a:t>
            </a:r>
            <a:r>
              <a:rPr lang="en-US" sz="1500" b="1" i="0">
                <a:solidFill>
                  <a:srgbClr val="6B4E9E"/>
                </a:solidFill>
                <a:latin typeface="Playpen Sans Hebrew"/>
                <a:cs typeface="Playpen Sans Hebrew"/>
              </a:rPr>
              <a:t>AI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6656832" y="3657600"/>
            <a:ext cx="1202436" cy="274320"/>
          </a:xfrm>
          <a:prstGeom prst="leftArrow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8640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-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511296"/>
            <a:ext cx="566928" cy="5669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80" y="4480560"/>
            <a:ext cx="173736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1"/>
            <a:r>
              <a:rPr lang="he-IL" sz="1500" b="1" i="0">
                <a:solidFill>
                  <a:srgbClr val="1B1E23"/>
                </a:solidFill>
                <a:latin typeface="Playpen Sans Hebrew"/>
                <a:cs typeface="Playpen Sans Hebrew"/>
              </a:rPr>
              <a:t>ניתוב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4302252" y="3657600"/>
            <a:ext cx="1202436" cy="274320"/>
          </a:xfrm>
          <a:prstGeom prst="leftArrow">
            <a:avLst/>
          </a:prstGeom>
          <a:solidFill>
            <a:srgbClr val="56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13182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con-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716" y="3511296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857500" y="4480560"/>
            <a:ext cx="173736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1"/>
            <a:r>
              <a:rPr lang="he-IL" sz="1500" b="1" i="0">
                <a:solidFill>
                  <a:srgbClr val="3F7A44"/>
                </a:solidFill>
                <a:latin typeface="Playpen Sans Hebrew"/>
                <a:cs typeface="Playpen Sans Hebrew"/>
              </a:rPr>
              <a:t>טיפול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1947672" y="3657600"/>
            <a:ext cx="1202436" cy="274320"/>
          </a:xfrm>
          <a:prstGeom prst="leftArrow">
            <a:avLst/>
          </a:prstGeom>
          <a:solidFill>
            <a:srgbClr val="565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3200400"/>
            <a:ext cx="1188720" cy="11887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con-chart-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3511296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4480560"/>
            <a:ext cx="173736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 rtl="1"/>
            <a:r>
              <a:rPr lang="he-IL" sz="1500" b="1" i="0">
                <a:solidFill>
                  <a:srgbClr val="1B1E23"/>
                </a:solidFill>
                <a:latin typeface="Playpen Sans Hebrew"/>
                <a:cs typeface="Playpen Sans Hebrew"/>
              </a:rPr>
              <a:t>מדידה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60704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400" b="0" i="0">
                <a:solidFill>
                  <a:srgbClr val="40454E"/>
                </a:solidFill>
                <a:latin typeface="Playpen Sans Hebrew"/>
                <a:cs typeface="Playpen Sans Hebrew"/>
              </a:rPr>
              <a:t>One AI step (purple) in an otherwise human flow — right-to-left reading order.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תרשימים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COMPONENTS · NATIVE &amp; EDITABLE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101462"/>
              </p:ext>
            </p:extLst>
          </p:nvPr>
        </p:nvGraphicFramePr>
        <p:xfrm>
          <a:off x="548640" y="1920240"/>
          <a:ext cx="3566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627632"/>
            <a:ext cx="35661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By channel — </a:t>
            </a:r>
            <a:r>
              <a:rPr lang="he-IL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לפי ערוץ</a:t>
            </a:r>
          </a:p>
        </p:txBody>
      </p:sp>
      <p:graphicFrame>
        <p:nvGraphicFramePr>
          <p:cNvPr id="8" name="Chart 7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39258"/>
              </p:ext>
            </p:extLst>
          </p:nvPr>
        </p:nvGraphicFramePr>
        <p:xfrm>
          <a:off x="4297680" y="1920240"/>
          <a:ext cx="3566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0" y="1627632"/>
            <a:ext cx="35661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By department — </a:t>
            </a:r>
            <a:r>
              <a:rPr lang="he-IL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לפי מחלקה</a:t>
            </a:r>
          </a:p>
        </p:txBody>
      </p:sp>
      <p:graphicFrame>
        <p:nvGraphicFramePr>
          <p:cNvPr id="10" name="Chart 9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189172"/>
              </p:ext>
            </p:extLst>
          </p:nvPr>
        </p:nvGraphicFramePr>
        <p:xfrm>
          <a:off x="8046720" y="1920240"/>
          <a:ext cx="3611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1627632"/>
            <a:ext cx="35661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Response time trend — </a:t>
            </a:r>
            <a:r>
              <a:rPr lang="he-IL" sz="1200" b="0" i="0">
                <a:solidFill>
                  <a:srgbClr val="40454E"/>
                </a:solidFill>
                <a:latin typeface="Playpen Sans Hebrew"/>
                <a:cs typeface="Playpen Sans Hebrew"/>
              </a:rPr>
              <a:t>מגמת זמן מענה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טבלת השוואה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61574"/>
              </p:ext>
            </p:extLst>
          </p:nvPr>
        </p:nvGraphicFramePr>
        <p:xfrm>
          <a:off x="548640" y="1828800"/>
          <a:ext cx="11091672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r"/>
                      <a:r>
                        <a:rPr lang="en-US" sz="1300" b="1">
                          <a:solidFill>
                            <a:srgbClr val="40454E"/>
                          </a:solidFill>
                          <a:latin typeface="Playpen Sans Hebrew"/>
                          <a:cs typeface="Playpen Sans Hebrew"/>
                        </a:rPr>
                        <a:t>Metric / </a:t>
                      </a:r>
                      <a:r>
                        <a:rPr lang="he-IL" sz="1300" b="1">
                          <a:solidFill>
                            <a:srgbClr val="40454E"/>
                          </a:solidFill>
                          <a:latin typeface="Playpen Sans Hebrew"/>
                          <a:cs typeface="Playpen Sans Hebrew"/>
                        </a:rPr>
                        <a:t>מדד</a:t>
                      </a:r>
                    </a:p>
                  </a:txBody>
                  <a:tcPr marL="101600" marR="101600" marT="25400" marB="25400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40454E"/>
                          </a:solidFill>
                          <a:latin typeface="Playpen Sans Hebrew"/>
                          <a:cs typeface="Playpen Sans Hebrew"/>
                        </a:rPr>
                        <a:t>Today / </a:t>
                      </a:r>
                      <a:r>
                        <a:rPr lang="he-IL" sz="1300" b="1">
                          <a:solidFill>
                            <a:srgbClr val="40454E"/>
                          </a:solidFill>
                          <a:latin typeface="Playpen Sans Hebrew"/>
                          <a:cs typeface="Playpen Sans Hebrew"/>
                        </a:rPr>
                        <a:t>היום</a:t>
                      </a:r>
                    </a:p>
                  </a:txBody>
                  <a:tcPr marL="101600" marR="101600" marT="25400" marB="25400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40454E"/>
                          </a:solidFill>
                          <a:latin typeface="Playpen Sans Hebrew"/>
                          <a:cs typeface="Playpen Sans Hebrew"/>
                        </a:rPr>
                        <a:t>Target / </a:t>
                      </a:r>
                      <a:r>
                        <a:rPr lang="he-IL" sz="1300" b="1">
                          <a:solidFill>
                            <a:srgbClr val="40454E"/>
                          </a:solidFill>
                          <a:latin typeface="Playpen Sans Hebrew"/>
                          <a:cs typeface="Playpen Sans Hebrew"/>
                        </a:rPr>
                        <a:t>יעד</a:t>
                      </a:r>
                    </a:p>
                  </a:txBody>
                  <a:tcPr marL="101600" marR="101600" marT="25400" marB="25400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300" b="1">
                          <a:solidFill>
                            <a:srgbClr val="40454E"/>
                          </a:solidFill>
                          <a:latin typeface="Playpen Sans Hebrew"/>
                          <a:cs typeface="Playpen Sans Hebrew"/>
                        </a:rPr>
                        <a:t>Δ</a:t>
                      </a:r>
                    </a:p>
                  </a:txBody>
                  <a:tcPr marL="101600" marR="101600" marT="25400" marB="25400" anchor="ctr"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r"/>
                      <a:r>
                        <a:rPr lang="en-US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Response time · </a:t>
                      </a:r>
                      <a:r>
                        <a:rPr lang="he-IL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זמן מענה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B0332E"/>
                          </a:solidFill>
                          <a:latin typeface="Playpen Sans Hebrew"/>
                          <a:cs typeface="Playpen Sans Hebrew"/>
                        </a:rPr>
                        <a:t>9 days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3F7A44"/>
                          </a:solidFill>
                          <a:latin typeface="Playpen Sans Hebrew"/>
                          <a:cs typeface="Playpen Sans Hebrew"/>
                        </a:rPr>
                        <a:t>&lt;3 days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-67%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r"/>
                      <a:r>
                        <a:rPr lang="en-US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Abandoned calls · </a:t>
                      </a:r>
                      <a:r>
                        <a:rPr lang="he-IL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שיחות ננטשות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B0332E"/>
                          </a:solidFill>
                          <a:latin typeface="Playpen Sans Hebrew"/>
                          <a:cs typeface="Playpen Sans Hebrew"/>
                        </a:rPr>
                        <a:t>31%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3F7A44"/>
                          </a:solidFill>
                          <a:latin typeface="Playpen Sans Hebrew"/>
                          <a:cs typeface="Playpen Sans Hebrew"/>
                        </a:rPr>
                        <a:t>&lt;10%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-21pt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r"/>
                      <a:r>
                        <a:rPr lang="en-US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First-contact resolution · </a:t>
                      </a:r>
                      <a:r>
                        <a:rPr lang="he-IL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פתרון בפנייה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B0332E"/>
                          </a:solidFill>
                          <a:latin typeface="Playpen Sans Hebrew"/>
                          <a:cs typeface="Playpen Sans Hebrew"/>
                        </a:rPr>
                        <a:t>22%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3F7A44"/>
                          </a:solidFill>
                          <a:latin typeface="Playpen Sans Hebrew"/>
                          <a:cs typeface="Playpen Sans Hebrew"/>
                        </a:rPr>
                        <a:t>55%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×2.5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r"/>
                      <a:r>
                        <a:rPr lang="en-US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AI auto-classification · </a:t>
                      </a:r>
                      <a:r>
                        <a:rPr lang="he-IL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סיווג </a:t>
                      </a:r>
                      <a:r>
                        <a:rPr lang="en-US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AI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B0332E"/>
                          </a:solidFill>
                          <a:latin typeface="Playpen Sans Hebrew"/>
                          <a:cs typeface="Playpen Sans Hebrew"/>
                        </a:rPr>
                        <a:t>—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3F7A44"/>
                          </a:solidFill>
                          <a:latin typeface="Playpen Sans Hebrew"/>
                          <a:cs typeface="Playpen Sans Hebrew"/>
                        </a:rPr>
                        <a:t>85%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new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r"/>
                      <a:r>
                        <a:rPr lang="en-US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Satisfaction · </a:t>
                      </a:r>
                      <a:r>
                        <a:rPr lang="he-IL" sz="1300" b="0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שביעות רצון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B0332E"/>
                          </a:solidFill>
                          <a:latin typeface="Playpen Sans Hebrew"/>
                          <a:cs typeface="Playpen Sans Hebrew"/>
                        </a:rPr>
                        <a:t>62%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300" b="1">
                          <a:solidFill>
                            <a:srgbClr val="3F7A44"/>
                          </a:solidFill>
                          <a:latin typeface="Playpen Sans Hebrew"/>
                          <a:cs typeface="Playpen Sans Hebrew"/>
                        </a:rPr>
                        <a:t>80%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1B1E23"/>
                          </a:solidFill>
                          <a:latin typeface="Playpen Sans Hebrew"/>
                          <a:cs typeface="Playpen Sans Hebrew"/>
                        </a:rPr>
                        <a:t>+18pt</a:t>
                      </a:r>
                    </a:p>
                  </a:txBody>
                  <a:tcPr marL="101600" marR="1016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מפת דרכים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24028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i="0">
                <a:solidFill>
                  <a:srgbClr val="3F7A44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2402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Done · הושלם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2240280" cy="90281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מיפוי תהליכים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בחירת פלטפורמה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פיילוט ראשון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304" y="2103120"/>
            <a:ext cx="224028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743200"/>
            <a:ext cx="22402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In progress · בתהליך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3291840"/>
            <a:ext cx="2240280" cy="90281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הגירת נתונים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חיבור טלפוניה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הדרכת נציגים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73368" y="2103120"/>
            <a:ext cx="224028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i="0">
                <a:solidFill>
                  <a:srgbClr val="1E5A8C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43200"/>
            <a:ext cx="22402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Next · בהמשך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291840"/>
            <a:ext cx="2240280" cy="90281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עלייה לאוויר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הפעלת AI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דשבורד הנהלה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1920240"/>
            <a:ext cx="26974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71432" y="2103120"/>
            <a:ext cx="224028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i="0">
                <a:solidFill>
                  <a:srgbClr val="1E5A8C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743200"/>
            <a:ext cx="22402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Next · בהמשך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291840"/>
            <a:ext cx="2240280" cy="90281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אפליקציית תושבים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טיוטות AI</a:t>
            </a:r>
          </a:p>
          <a:p>
            <a:pPr algn="r" rtl="1">
              <a:spcAft>
                <a:spcPts val="800"/>
              </a:spcAft>
            </a:pPr>
            <a:r>
              <a:rPr sz="1400" b="0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• מדידת יעדים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סיכונים ומענים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118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con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574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651760"/>
            <a:ext cx="32461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600" b="1" i="0">
                <a:solidFill>
                  <a:srgbClr val="C1631A"/>
                </a:solidFill>
                <a:latin typeface="Playpen Sans Hebrew"/>
                <a:cs typeface="Playpen Sans Hebrew"/>
              </a:rPr>
              <a:t>איכות דאטה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46120" cy="5283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כפילויות בין קבצים</a:t>
            </a:r>
          </a:p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שדות חסרים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74519"/>
            <a:ext cx="36118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con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5740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7992" y="2651760"/>
            <a:ext cx="32461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600" b="1" i="0">
                <a:solidFill>
                  <a:srgbClr val="C1631A"/>
                </a:solidFill>
                <a:latin typeface="Playpen Sans Hebrew"/>
                <a:cs typeface="Playpen Sans Hebrew"/>
              </a:rPr>
              <a:t>התנגדות עובדים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3108960"/>
            <a:ext cx="3246120" cy="5283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חשש מהחלפת תפקיד</a:t>
            </a:r>
          </a:p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הרגלי </a:t>
            </a:r>
            <a:r>
              <a:rPr lang="en-US" sz="1300" b="0" i="0">
                <a:solidFill>
                  <a:srgbClr val="1B1E23"/>
                </a:solidFill>
                <a:latin typeface="Playpen Sans Hebrew"/>
                <a:cs typeface="Playpen Sans Hebrew"/>
              </a:rPr>
              <a:t>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874519"/>
            <a:ext cx="36118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con-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205740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4464" y="2651760"/>
            <a:ext cx="32461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600" b="1" i="0">
                <a:solidFill>
                  <a:srgbClr val="C1631A"/>
                </a:solidFill>
                <a:latin typeface="Playpen Sans Hebrew"/>
                <a:cs typeface="Playpen Sans Hebrew"/>
              </a:rPr>
              <a:t>דיוק סיווג </a:t>
            </a:r>
            <a:r>
              <a:rPr lang="en-US" sz="1600" b="1" i="0">
                <a:solidFill>
                  <a:srgbClr val="C1631A"/>
                </a:solidFill>
                <a:latin typeface="Playpen Sans Hebrew"/>
                <a:cs typeface="Playpen Sans Hebrew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108960"/>
            <a:ext cx="3246120" cy="5283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שפה מעורבת</a:t>
            </a:r>
          </a:p>
          <a:p>
            <a:pPr algn="r" rtl="1">
              <a:spcAft>
                <a:spcPts val="600"/>
              </a:spcAft>
            </a:pPr>
            <a:r>
              <a:rPr lang="he-IL" sz="1300" b="0" i="0">
                <a:solidFill>
                  <a:srgbClr val="1B1E23"/>
                </a:solidFill>
                <a:latin typeface="Playpen Sans Hebrew"/>
                <a:cs typeface="Playpen Sans Hebrew"/>
              </a:rPr>
              <a:t>• קטגוריות נדירות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54864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100" b="1" i="0" spc="150">
                <a:solidFill>
                  <a:srgbClr val="1B1E23"/>
                </a:solidFill>
                <a:latin typeface="Playpen Sans Hebrew"/>
                <a:cs typeface="Playpen Sans Hebrew"/>
              </a:rPr>
              <a:t>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74336"/>
            <a:ext cx="54864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 rtl="1"/>
            <a:r>
              <a:rPr lang="he-IL" sz="1200" b="1" i="0">
                <a:solidFill>
                  <a:srgbClr val="1B1E23"/>
                </a:solidFill>
                <a:latin typeface="Playpen Sans Hebrew"/>
                <a:cs typeface="Playpen Sans Hebrew"/>
              </a:rPr>
              <a:t>מנגנוני מענה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1500" b="0" i="0">
                <a:solidFill>
                  <a:srgbClr val="1B1E23"/>
                </a:solidFill>
                <a:latin typeface="Playpen Sans Hebrew"/>
                <a:cs typeface="Playpen Sans Hebrew"/>
              </a:rPr>
              <a:t>✓ ניקוי דאטה לפני הגירה   ✓ שגרירי שינוי בכל מחלקה   ✓ אדם מאשר כל מענה </a:t>
            </a:r>
            <a:r>
              <a:rPr lang="en-US" sz="1500" b="0" i="0">
                <a:solidFill>
                  <a:srgbClr val="1B1E23"/>
                </a:solidFill>
                <a:latin typeface="Playpen Sans Hebrew"/>
                <a:cs typeface="Playpen Sans Hebrew"/>
              </a:rPr>
              <a:t>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3400" b="1" i="0">
                <a:solidFill>
                  <a:srgbClr val="1B1E23"/>
                </a:solidFill>
                <a:latin typeface="Playpen Sans Hebrew"/>
                <a:cs typeface="Playpen Sans Hebrew"/>
              </a:rPr>
              <a:t>2×2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000" b="0" i="0">
                <a:solidFill>
                  <a:srgbClr val="1B4B66"/>
                </a:solidFill>
                <a:latin typeface="Playpen Sans Hebrew"/>
                <a:cs typeface="Playpen Sans Hebrew"/>
              </a:rPr>
              <a:t>מטריצה 2×2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050" b="1" i="0" spc="200">
                <a:solidFill>
                  <a:srgbClr val="565B63"/>
                </a:solidFill>
                <a:latin typeface="Playpen Sans Hebrew"/>
                <a:cs typeface="Playpen Sans Hebrew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66160" y="1920240"/>
            <a:ext cx="2011680" cy="2011680"/>
          </a:xfrm>
          <a:prstGeom prst="rect">
            <a:avLst/>
          </a:prstGeom>
          <a:solidFill>
            <a:srgbClr val="F3F1EC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77840" y="192024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393192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77840" y="3931920"/>
            <a:ext cx="2011680" cy="2011680"/>
          </a:xfrm>
          <a:prstGeom prst="rect">
            <a:avLst/>
          </a:prstGeom>
          <a:solidFill>
            <a:srgbClr val="F3F1EC"/>
          </a:solidFill>
          <a:ln w="12700">
            <a:solidFill>
              <a:srgbClr val="404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1737360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1" i="0">
                <a:solidFill>
                  <a:srgbClr val="3F7A44"/>
                </a:solidFill>
                <a:latin typeface="Playpen Sans Hebrew"/>
                <a:cs typeface="Playpen Sans Hebrew"/>
              </a:rPr>
              <a:t>Quick wins</a:t>
            </a:r>
          </a:p>
          <a:p>
            <a:pPr algn="l"/>
            <a:r>
              <a:rPr lang="he-IL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זכיות מהירות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1737360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1" i="0">
                <a:solidFill>
                  <a:srgbClr val="1E5A8C"/>
                </a:solidFill>
                <a:latin typeface="Playpen Sans Hebrew"/>
                <a:cs typeface="Playpen Sans Hebrew"/>
              </a:rPr>
              <a:t>Major bets</a:t>
            </a:r>
          </a:p>
          <a:p>
            <a:pPr algn="l"/>
            <a:r>
              <a:rPr lang="he-IL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הימורים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114800"/>
            <a:ext cx="1737360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1" i="0">
                <a:solidFill>
                  <a:srgbClr val="C1631A"/>
                </a:solidFill>
                <a:latin typeface="Playpen Sans Hebrew"/>
                <a:cs typeface="Playpen Sans Hebrew"/>
              </a:rPr>
              <a:t>Fill-ins</a:t>
            </a:r>
          </a:p>
          <a:p>
            <a:pPr algn="l"/>
            <a:r>
              <a:rPr lang="he-IL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משני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114800"/>
            <a:ext cx="1737360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1" i="0">
                <a:solidFill>
                  <a:srgbClr val="B0332E"/>
                </a:solidFill>
                <a:latin typeface="Playpen Sans Hebrew"/>
                <a:cs typeface="Playpen Sans Hebrew"/>
              </a:rPr>
              <a:t>Reconsider</a:t>
            </a:r>
          </a:p>
          <a:p>
            <a:pPr algn="l"/>
            <a:r>
              <a:rPr lang="he-IL" sz="1300" b="0" i="0">
                <a:solidFill>
                  <a:srgbClr val="40454E"/>
                </a:solidFill>
                <a:latin typeface="Playpen Sans Hebrew"/>
                <a:cs typeface="Playpen Sans Hebrew"/>
              </a:rPr>
              <a:t>לבחון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989320"/>
            <a:ext cx="40233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200" b="1" i="0">
                <a:solidFill>
                  <a:srgbClr val="40454E"/>
                </a:solidFill>
                <a:latin typeface="Playpen Sans Hebrew"/>
                <a:cs typeface="Playpen Sans Hebrew"/>
              </a:rPr>
              <a:t>Effort → </a:t>
            </a:r>
            <a:r>
              <a:rPr lang="he-IL" sz="1200" b="1" i="0">
                <a:solidFill>
                  <a:srgbClr val="40454E"/>
                </a:solidFill>
                <a:latin typeface="Playpen Sans Hebrew"/>
                <a:cs typeface="Playpen Sans Hebrew"/>
              </a:rPr>
              <a:t>מאמץ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2103120" y="3813939"/>
            <a:ext cx="1371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200" b="1" i="0">
                <a:solidFill>
                  <a:srgbClr val="40454E"/>
                </a:solidFill>
                <a:latin typeface="Playpen Sans Hebrew"/>
                <a:cs typeface="Playpen Sans Hebrew"/>
              </a:rPr>
              <a:t>Impact → </a:t>
            </a:r>
            <a:r>
              <a:rPr lang="he-IL" sz="1200" b="1" i="0">
                <a:solidFill>
                  <a:srgbClr val="40454E"/>
                </a:solidFill>
                <a:latin typeface="Playpen Sans Hebrew"/>
                <a:cs typeface="Playpen Sans Hebrew"/>
              </a:rPr>
              <a:t>השפעה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536047"/>
            <a:ext cx="3657600" cy="97462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500" b="0" i="0">
                <a:solidFill>
                  <a:srgbClr val="40454E"/>
                </a:solidFill>
                <a:latin typeface="Playpen Sans Hebrew"/>
                <a:cs typeface="Playpen Sans Hebrew"/>
              </a:rPr>
              <a:t>Use for prioritization, risk/impact, or effort/value trade-offs.</a:t>
            </a:r>
          </a:p>
          <a:p>
            <a:pPr algn="l"/>
            <a:endParaRPr lang="en-US" sz="1500" b="0" i="0">
              <a:solidFill>
                <a:srgbClr val="40454E"/>
              </a:solidFill>
              <a:latin typeface="Playpen Sans Hebrew"/>
              <a:cs typeface="Playpen Sans Hebrew"/>
            </a:endParaRPr>
          </a:p>
          <a:p>
            <a:pPr algn="r" rtl="1"/>
            <a:r>
              <a:rPr lang="he-IL" sz="1500" b="0" i="0">
                <a:solidFill>
                  <a:srgbClr val="40454E"/>
                </a:solidFill>
                <a:latin typeface="Playpen Sans Hebrew"/>
                <a:cs typeface="Playpen Sans Hebrew"/>
              </a:rPr>
              <a:t>לתעדוף, סיכון מול השפעה, או מאמץ מול ערך.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57451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sz="2000" b="0" i="0">
                <a:solidFill>
                  <a:srgbClr val="1B4B66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סיכום וצעדים הבאים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109728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 i="0" spc="200">
                <a:solidFill>
                  <a:srgbClr val="565B6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WRAP-UP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19050"/>
          </a:xfrm>
          <a:prstGeom prst="rect">
            <a:avLst/>
          </a:prstGeom>
          <a:solidFill>
            <a:srgbClr val="404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5720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6125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Duplicate to start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copy any slide and replace its content in place.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Keep the six inks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semantic colors, never remapped.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Mind direction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numbers and Latin terms stay LTR inside Hebrew.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Install the font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Playpen Sans Hebrew across the whole deck.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Build on-brand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bilingual, consistent and presentation-ready.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37360"/>
            <a:ext cx="539496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laypen Sans Hebrew" pitchFamily="2" charset="-79"/>
              <a:ea typeface="Playpen Sans Hebrew" pitchFamily="2" charset="-79"/>
              <a:cs typeface="Playpen Sans Hebrew" pitchFamily="2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0" y="1920240"/>
            <a:ext cx="91440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 spc="15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צעדים הבאים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846320" cy="31277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שכפלו כדי להתחיל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העתיקו כל שקף והחליפו תוכן במקום.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שמרו על שש הדיו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צבעים סמנטיים, בלי מיפוי מחדש.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שימו לב לכיוון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מספרים ולועזית נשארים LTR בתוך עברית.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1E23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התקינו את הפונט 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— Playpen Sans Hebrew בכל המצגת.</a:t>
            </a:r>
          </a:p>
          <a:p>
            <a:pPr algn="r" rtl="1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1631A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בנו במותג</a:t>
            </a:r>
            <a:r>
              <a:rPr sz="1500" b="0" i="0">
                <a:solidFill>
                  <a:srgbClr val="40454E"/>
                </a:solidFill>
                <a:latin typeface="Playpen Sans Hebrew" pitchFamily="2" charset="-79"/>
                <a:ea typeface="Playpen Sans Hebrew" pitchFamily="2" charset="-79"/>
                <a:cs typeface="Playpen Sans Hebrew" pitchFamily="2" charset="-79"/>
              </a:rPr>
              <a:t> — דו-לשוני, עקבי ומוכן להצגה.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4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n-spark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772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920240"/>
            <a:ext cx="10972800" cy="85151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5200" b="1" i="0">
                <a:solidFill>
                  <a:srgbClr val="1B1E23"/>
                </a:solidFill>
                <a:latin typeface="Playpen Sans Hebrew"/>
                <a:cs typeface="Playpen Sans Hebrew"/>
              </a:rPr>
              <a:t>Build on-brand.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 rtl="1"/>
            <a:r>
              <a:rPr lang="he-IL" sz="2600" b="0" i="0">
                <a:solidFill>
                  <a:srgbClr val="1B4B66"/>
                </a:solidFill>
                <a:latin typeface="Playpen Sans Hebrew"/>
                <a:cs typeface="Playpen Sans Hebrew"/>
              </a:rPr>
              <a:t>בנו במותג — עברית ואנגלית, שש דיו, אותה שפה חזותית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0"/>
            <a:ext cx="109728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500" b="0" i="0">
                <a:solidFill>
                  <a:srgbClr val="40454E"/>
                </a:solidFill>
                <a:latin typeface="Playpen Sans Hebrew"/>
                <a:cs typeface="Playpen Sans Hebrew"/>
              </a:rPr>
              <a:t>Colors · Typography · Labels · Icons · KPIs · Problem/Solution · Flow · Charts · Table · Roadmap · Risks ·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20640"/>
            <a:ext cx="109728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1300" b="0" i="0">
                <a:solidFill>
                  <a:srgbClr val="565B63"/>
                </a:solidFill>
                <a:latin typeface="Playpen Sans Hebrew"/>
                <a:cs typeface="Playpen Sans Hebrew"/>
              </a:rPr>
              <a:t>Workshop Design System · github.com/noamh98/workshop-design-system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5852160"/>
            <a:ext cx="274320" cy="274320"/>
          </a:xfrm>
          <a:prstGeom prst="ellipse">
            <a:avLst/>
          </a:prstGeom>
          <a:solidFill>
            <a:srgbClr val="1B1E23"/>
          </a:solidFill>
          <a:ln>
            <a:solidFill>
              <a:srgbClr val="1B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5852160"/>
            <a:ext cx="274320" cy="274320"/>
          </a:xfrm>
          <a:prstGeom prst="ellipse">
            <a:avLst/>
          </a:prstGeom>
          <a:solidFill>
            <a:srgbClr val="1E5A8C"/>
          </a:solidFill>
          <a:ln>
            <a:solidFill>
              <a:srgbClr val="1E5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72768" y="5852160"/>
            <a:ext cx="274320" cy="274320"/>
          </a:xfrm>
          <a:prstGeom prst="ellipse">
            <a:avLst/>
          </a:prstGeom>
          <a:solidFill>
            <a:srgbClr val="B0332E"/>
          </a:solidFill>
          <a:ln>
            <a:solidFill>
              <a:srgbClr val="B03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29968" y="5852160"/>
            <a:ext cx="274320" cy="274320"/>
          </a:xfrm>
          <a:prstGeom prst="ellipse">
            <a:avLst/>
          </a:prstGeom>
          <a:solidFill>
            <a:srgbClr val="3F7A44"/>
          </a:solidFill>
          <a:ln>
            <a:solidFill>
              <a:srgbClr val="3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487168" y="5852160"/>
            <a:ext cx="274320" cy="274320"/>
          </a:xfrm>
          <a:prstGeom prst="ellipse">
            <a:avLst/>
          </a:prstGeom>
          <a:solidFill>
            <a:srgbClr val="C1631A"/>
          </a:solidFill>
          <a:ln>
            <a:solidFill>
              <a:srgbClr val="C1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44368" y="5852160"/>
            <a:ext cx="274320" cy="274320"/>
          </a:xfrm>
          <a:prstGeom prst="ellipse">
            <a:avLst/>
          </a:prstGeom>
          <a:solidFill>
            <a:srgbClr val="6B4E9E"/>
          </a:solidFill>
          <a:ln>
            <a:solidFill>
              <a:srgbClr val="6B4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laypen Sans Hebrew"/>
        <a:ea typeface="Playpen Sans Hebrew"/>
        <a:cs typeface="Playpen Sans Hebrew"/>
        <a:font script="Jpan" typeface="ＭＳ Ｐゴシック"/>
        <a:font script="Hang" typeface="맑은 고딕"/>
        <a:font script="Hans" typeface="宋体"/>
        <a:font script="Hant" typeface="新細明體"/>
        <a:font script="Arab" typeface="Playpen Sans Hebrew"/>
        <a:font script="Hebr" typeface="Playpen Sans Hebrew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laypen Sans Hebrew"/>
        <a:ea typeface="Playpen Sans Hebrew"/>
        <a:cs typeface="Playpen Sans Hebrew"/>
        <a:font script="Jpan" typeface="ＭＳ Ｐゴシック"/>
        <a:font script="Hang" typeface="맑은 고딕"/>
        <a:font script="Hans" typeface="宋体"/>
        <a:font script="Hant" typeface="新細明體"/>
        <a:font script="Arab" typeface="Playpen Sans Hebrew"/>
        <a:font script="Hebr" typeface="Playpen Sans Hebrew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1209</Words>
  <Application>Microsoft Office PowerPoint</Application>
  <PresentationFormat>מסך רחב</PresentationFormat>
  <Paragraphs>300</Paragraphs>
  <Slides>17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19" baseType="lpstr">
      <vt:lpstr>Playpen Sans Hebrew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Noam Hanimov</cp:lastModifiedBy>
  <cp:revision>2</cp:revision>
  <dcterms:created xsi:type="dcterms:W3CDTF">2013-01-27T09:14:16Z</dcterms:created>
  <dcterms:modified xsi:type="dcterms:W3CDTF">2026-07-12T14:47:26Z</dcterms:modified>
  <cp:category/>
</cp:coreProperties>
</file>