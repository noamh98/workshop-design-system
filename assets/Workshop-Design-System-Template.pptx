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dPt>
            <c:idx val="0"/>
            <c:spPr>
              <a:solidFill>
                <a:srgbClr val="B0332E"/>
              </a:solidFill>
            </c:spPr>
          </c:dPt>
          <c:dPt>
            <c:idx val="1"/>
            <c:spPr>
              <a:solidFill>
                <a:srgbClr val="C1631A"/>
              </a:solidFill>
            </c:spPr>
          </c:dPt>
          <c:dPt>
            <c:idx val="2"/>
            <c:spPr>
              <a:solidFill>
                <a:srgbClr val="1E5A8C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Email</c:v>
                </c:pt>
                <c:pt idx="2">
                  <c:v>Digital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33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dPt>
            <c:idx val="0"/>
            <c:spPr>
              <a:solidFill>
                <a:srgbClr val="B0332E"/>
              </a:solidFill>
            </c:spPr>
          </c:dPt>
          <c:dPt>
            <c:idx val="1"/>
            <c:spPr>
              <a:solidFill>
                <a:srgbClr val="C1631A"/>
              </a:solidFill>
            </c:spPr>
          </c:dPt>
          <c:dPt>
            <c:idx val="2"/>
            <c:spPr>
              <a:solidFill>
                <a:srgbClr val="1E5A8C"/>
              </a:solidFill>
            </c:spPr>
          </c:dPt>
          <c:dPt>
            <c:idx val="3"/>
            <c:spPr>
              <a:solidFill>
                <a:srgbClr val="3F7A44"/>
              </a:solidFill>
            </c:spPr>
          </c:dPt>
          <c:cat>
            <c:strRef>
              <c:f>Sheet1!$A$2:$A$5</c:f>
              <c:strCache>
                <c:ptCount val="4"/>
                <c:pt idx="0">
                  <c:v>Sanit.</c:v>
                </c:pt>
                <c:pt idx="1">
                  <c:v>Billing</c:v>
                </c:pt>
                <c:pt idx="2">
                  <c:v>Eng.</c:v>
                </c:pt>
                <c:pt idx="3">
                  <c:v>Welfare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29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ln w="31750">
              <a:solidFill>
                <a:srgbClr val="3F7A44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8.6</c:v>
                </c:pt>
                <c:pt idx="2">
                  <c:v>8.1</c:v>
                </c:pt>
                <c:pt idx="3">
                  <c:v>7.2</c:v>
                </c:pt>
                <c:pt idx="4">
                  <c:v>6.4</c:v>
                </c:pt>
                <c:pt idx="5">
                  <c:v>5.5</c:v>
                </c:pt>
                <c:pt idx="6">
                  <c:v>4.8</c:v>
                </c:pt>
                <c:pt idx="7">
                  <c:v>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4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5800" b="1" i="0">
                <a:solidFill>
                  <a:srgbClr val="1B1E23"/>
                </a:solidFill>
                <a:latin typeface="Fraunces"/>
                <a:cs typeface="Fraunces"/>
              </a:rPr>
              <a:t>Workshop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3000" b="0" i="0">
                <a:solidFill>
                  <a:srgbClr val="1B4B66"/>
                </a:solidFill>
                <a:latin typeface="Frank Ruhl Libre"/>
                <a:cs typeface="Frank Ruhl Libre"/>
              </a:rPr>
              <a:t>מערכת העיצוב — תבנית מצגת מנהלים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976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6B7078"/>
                </a:solidFill>
                <a:latin typeface="Inter"/>
                <a:cs typeface="Inter"/>
              </a:rPr>
              <a:t>PowerPoint template · English + עברית · six-ink system · editable objects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5852160"/>
            <a:ext cx="310896" cy="310896"/>
          </a:xfrm>
          <a:prstGeom prst="ellipse">
            <a:avLst/>
          </a:prstGeom>
          <a:solidFill>
            <a:srgbClr val="1B1E23"/>
          </a:solidFill>
          <a:ln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5852160"/>
            <a:ext cx="310896" cy="310896"/>
          </a:xfrm>
          <a:prstGeom prst="ellipse">
            <a:avLst/>
          </a:prstGeom>
          <a:solidFill>
            <a:srgbClr val="1E5A8C"/>
          </a:solidFill>
          <a:ln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4208" y="5852160"/>
            <a:ext cx="310896" cy="310896"/>
          </a:xfrm>
          <a:prstGeom prst="ellipse">
            <a:avLst/>
          </a:prstGeom>
          <a:solidFill>
            <a:srgbClr val="B0332E"/>
          </a:solidFill>
          <a:ln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67128" y="5852160"/>
            <a:ext cx="310896" cy="310896"/>
          </a:xfrm>
          <a:prstGeom prst="ellipse">
            <a:avLst/>
          </a:prstGeom>
          <a:solidFill>
            <a:srgbClr val="3F7A44"/>
          </a:solidFill>
          <a:ln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0048" y="5852160"/>
            <a:ext cx="310896" cy="310896"/>
          </a:xfrm>
          <a:prstGeom prst="ellipse">
            <a:avLst/>
          </a:prstGeom>
          <a:solidFill>
            <a:srgbClr val="C1631A"/>
          </a:solidFill>
          <a:ln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72968" y="5852160"/>
            <a:ext cx="310896" cy="310896"/>
          </a:xfrm>
          <a:prstGeom prst="ellipse">
            <a:avLst/>
          </a:prstGeom>
          <a:solidFill>
            <a:srgbClr val="6B4E9E"/>
          </a:solidFill>
          <a:ln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5870448"/>
            <a:ext cx="8046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200" b="0" i="1">
                <a:solidFill>
                  <a:srgbClr val="6B7078"/>
                </a:solidFill>
                <a:latin typeface="Inter"/>
                <a:cs typeface="Inter"/>
              </a:rPr>
              <a:t>15-slide element gallery — duplicate any slide and edit in 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How to use this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כיצד להשתמש בתבנית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START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Inter"/>
                <a:cs typeface="Inter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4632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Inter"/>
                <a:cs typeface="Inter"/>
              </a:rPr>
              <a:t>This deck is a component gallery. </a:t>
            </a:r>
            <a:r>
              <a:rPr sz="1500" b="0" i="0">
                <a:solidFill>
                  <a:srgbClr val="40454E"/>
                </a:solidFill>
                <a:latin typeface="Inter"/>
                <a:cs typeface="Inter"/>
              </a:rPr>
              <a:t>Duplicate any slide and replace its content — the colors, fonts and layouts are already on-brand.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Inter"/>
                <a:cs typeface="Inter"/>
              </a:rPr>
              <a:t>Six inks are semantic</a:t>
            </a:r>
            <a:r>
              <a:rPr sz="1500" b="0" i="0">
                <a:solidFill>
                  <a:srgbClr val="40454E"/>
                </a:solidFill>
                <a:latin typeface="Inter"/>
                <a:cs typeface="Inter"/>
              </a:rPr>
              <a:t> — never remap them: black=structure, blue=future, red=problems, green=solutions, orange=risks, purple=AI.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Inter"/>
                <a:cs typeface="Inter"/>
              </a:rPr>
              <a:t>Fonts to install: </a:t>
            </a:r>
            <a:r>
              <a:rPr sz="1500" b="0" i="0">
                <a:solidFill>
                  <a:srgbClr val="40454E"/>
                </a:solidFill>
                <a:latin typeface="Inter"/>
                <a:cs typeface="Inter"/>
              </a:rPr>
              <a:t>Fraunces, Frank Ruhl Libre, Inter, Heebo, IBM Plex Mono, Caveat (all free / Google Fonts).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Inter"/>
                <a:cs typeface="Inter"/>
              </a:rPr>
              <a:t>No emoji, no gradients. </a:t>
            </a:r>
            <a:r>
              <a:rPr sz="1500" b="0" i="0">
                <a:solidFill>
                  <a:srgbClr val="40454E"/>
                </a:solidFill>
                <a:latin typeface="Inter"/>
                <a:cs typeface="Inter"/>
              </a:rPr>
              <a:t>Numbers and Latin terms stay LTR inside Hebrew text.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1631A"/>
                </a:solidFill>
                <a:latin typeface="Inter"/>
                <a:cs typeface="Inter"/>
              </a:rPr>
              <a:t>Hand-sketch mode is HTML-only</a:t>
            </a:r>
            <a:r>
              <a:rPr sz="1500" b="0" i="0">
                <a:solidFill>
                  <a:srgbClr val="40454E"/>
                </a:solidFill>
                <a:latin typeface="Inter"/>
                <a:cs typeface="Inter"/>
              </a:rPr>
              <a:t> — this .pptx uses the clean brand mode instead.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3736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1920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Inter"/>
                <a:cs typeface="Inter"/>
              </a:rPr>
              <a:t>עברית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84632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Heebo"/>
                <a:cs typeface="Heebo"/>
              </a:rPr>
              <a:t>המצגת הזו היא גלריית רכיבים. </a:t>
            </a:r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שכפלו כל שקף והחליפו תוכן — הצבעים, הפונטים והפריסות כבר במותג.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Heebo"/>
                <a:cs typeface="Heebo"/>
              </a:rPr>
              <a:t>שש הדיו סמנטיות</a:t>
            </a:r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 — אין למפות מחדש: שחור=מבנה, כחול=עתיד, אדום=בעיות, ירוק=פתרונות, כתום=סיכונים, סגול=AI.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Heebo"/>
                <a:cs typeface="Heebo"/>
              </a:rPr>
              <a:t>פונטים להתקנה: </a:t>
            </a:r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Fraunces, Frank Ruhl Libre, Inter, Heebo, IBM Plex Mono, Caveat.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Heebo"/>
                <a:cs typeface="Heebo"/>
              </a:rPr>
              <a:t>בלי אימוג'י, בלי גרדיאנטים. </a:t>
            </a:r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מספרים ומונחים לועזיים נשארים LTR בתוך טקסט עברי.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1631A"/>
                </a:solidFill>
                <a:latin typeface="Heebo"/>
                <a:cs typeface="Heebo"/>
              </a:rPr>
              <a:t>מצב הסקיצה קיים רק ב-HTML</a:t>
            </a:r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 — כאן משתמשים במצב המותג הנקי.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The six-ink color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מערכת שש הדיו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947672"/>
            <a:ext cx="914400" cy="914400"/>
          </a:xfrm>
          <a:prstGeom prst="rect">
            <a:avLst/>
          </a:prstGeom>
          <a:solidFill>
            <a:srgbClr val="1B1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929384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1B1E23"/>
                </a:solidFill>
                <a:latin typeface="Fraunces"/>
                <a:cs typeface="Fraunces"/>
              </a:rPr>
              <a:t>Black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5000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6B7078"/>
                </a:solidFill>
                <a:latin typeface="IBM Plex Mono"/>
                <a:cs typeface="IBM Plex Mono"/>
              </a:rPr>
              <a:t>#1B1E23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Inter"/>
                <a:cs typeface="Inter"/>
              </a:rPr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0712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מבנה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8308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4" y="1947672"/>
            <a:ext cx="914400" cy="914400"/>
          </a:xfrm>
          <a:prstGeom prst="rect">
            <a:avLst/>
          </a:prstGeom>
          <a:solidFill>
            <a:srgbClr val="1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1929384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1E5A8C"/>
                </a:solidFill>
                <a:latin typeface="Fraunces"/>
                <a:cs typeface="Fraunces"/>
              </a:rPr>
              <a:t>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35000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6B7078"/>
                </a:solidFill>
                <a:latin typeface="IBM Plex Mono"/>
                <a:cs typeface="IBM Plex Mono"/>
              </a:rPr>
              <a:t>#1E5A8C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01752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Inter"/>
                <a:cs typeface="Inter"/>
              </a:rPr>
              <a:t>Future / ideas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410712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עתיד / רעיונות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78308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6" y="1947672"/>
            <a:ext cx="914400" cy="914400"/>
          </a:xfrm>
          <a:prstGeom prst="rect">
            <a:avLst/>
          </a:prstGeom>
          <a:solidFill>
            <a:srgbClr val="B0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929384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B0332E"/>
                </a:solidFill>
                <a:latin typeface="Fraunces"/>
                <a:cs typeface="Fraunces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35000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6B7078"/>
                </a:solidFill>
                <a:latin typeface="IBM Plex Mono"/>
                <a:cs typeface="IBM Plex Mono"/>
              </a:rPr>
              <a:t>#B0332E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Inter"/>
                <a:cs typeface="Inter"/>
              </a:rPr>
              <a:t>Problems / pain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410712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בעיות / מצב קיים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4279392"/>
            <a:ext cx="914400" cy="914400"/>
          </a:xfrm>
          <a:prstGeom prst="rect">
            <a:avLst/>
          </a:prstGeom>
          <a:solidFill>
            <a:srgbClr val="3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3080" y="4261104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3F7A44"/>
                </a:solidFill>
                <a:latin typeface="Fraunces"/>
                <a:cs typeface="Fraunces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68172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6B7078"/>
                </a:solidFill>
                <a:latin typeface="IBM Plex Mono"/>
                <a:cs typeface="IBM Plex Mono"/>
              </a:rPr>
              <a:t>#3F7A44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Inter"/>
                <a:cs typeface="Inter"/>
              </a:rPr>
              <a:t>Solutions /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42432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פתרונות / הושלם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411480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9704" y="4279392"/>
            <a:ext cx="914400" cy="914400"/>
          </a:xfrm>
          <a:prstGeom prst="rect">
            <a:avLst/>
          </a:prstGeom>
          <a:solidFill>
            <a:srgbClr val="C1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9552" y="4261104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C1631A"/>
                </a:solidFill>
                <a:latin typeface="Fraunces"/>
                <a:cs typeface="Fraunces"/>
              </a:rPr>
              <a:t>Orange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9552" y="468172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6B7078"/>
                </a:solidFill>
                <a:latin typeface="IBM Plex Mono"/>
                <a:cs typeface="IBM Plex Mono"/>
              </a:rPr>
              <a:t>#C1631A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53492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Inter"/>
                <a:cs typeface="Inter"/>
              </a:rPr>
              <a:t>Risks /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5742432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סיכונים / בתהליך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4" y="411480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66176" y="4279392"/>
            <a:ext cx="914400" cy="91440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36024" y="4261104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6B4E9E"/>
                </a:solidFill>
                <a:latin typeface="Fraunces"/>
                <a:cs typeface="Fraunces"/>
              </a:rPr>
              <a:t>Purple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024" y="468172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6B7078"/>
                </a:solidFill>
                <a:latin typeface="IBM Plex Mono"/>
                <a:cs typeface="IBM Plex Mono"/>
              </a:rPr>
              <a:t>#6B4E9E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53492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Inter"/>
                <a:cs typeface="Inter"/>
              </a:rPr>
              <a:t>AI / automation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5742432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AI / אוטומציה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טיפוגרפיה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Inter"/>
                <a:cs typeface="Inter"/>
              </a:rPr>
              <a:t>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0" i="0">
                <a:solidFill>
                  <a:srgbClr val="6B7078"/>
                </a:solidFill>
                <a:latin typeface="IBM Plex Mono"/>
                <a:cs typeface="IBM Plex Mono"/>
              </a:rPr>
              <a:t>Fraunces / Frank Ruhl Libre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83080"/>
            <a:ext cx="49377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4000" b="1" i="0">
                <a:solidFill>
                  <a:srgbClr val="1B1E23"/>
                </a:solidFill>
                <a:latin typeface="Fraunces"/>
                <a:cs typeface="Fraunces"/>
              </a:rPr>
              <a:t>Executive 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83080"/>
            <a:ext cx="38404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 rtl="1"/>
            <a:r>
              <a:rPr sz="4000" b="1" i="0">
                <a:solidFill>
                  <a:srgbClr val="1B1E23"/>
                </a:solidFill>
                <a:latin typeface="Frank Ruhl Libre"/>
                <a:cs typeface="Frank Ruhl Libre"/>
              </a:rPr>
              <a:t>כותרת ניהולית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60904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Inter"/>
                <a:cs typeface="Inter"/>
              </a:rPr>
              <a:t>Body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0" i="0">
                <a:solidFill>
                  <a:srgbClr val="6B7078"/>
                </a:solidFill>
                <a:latin typeface="IBM Plex Mono"/>
                <a:cs typeface="IBM Plex Mono"/>
              </a:rPr>
              <a:t>Inter / Heebo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15768"/>
            <a:ext cx="49377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0" i="0">
                <a:solidFill>
                  <a:srgbClr val="40454E"/>
                </a:solidFill>
                <a:latin typeface="Inter"/>
                <a:cs typeface="Inter"/>
              </a:rPr>
              <a:t>Readable running text for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15768"/>
            <a:ext cx="38404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40454E"/>
                </a:solidFill>
                <a:latin typeface="Heebo"/>
                <a:cs typeface="Heebo"/>
              </a:rPr>
              <a:t>טקסט גוף קריא לתוכן השקף.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93592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9417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Inter"/>
                <a:cs typeface="Inter"/>
              </a:rPr>
              <a:t>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05656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0" i="0">
                <a:solidFill>
                  <a:srgbClr val="6B7078"/>
                </a:solidFill>
                <a:latin typeface="IBM Plex Mono"/>
                <a:cs typeface="IBM Plex Mono"/>
              </a:rPr>
              <a:t>Inter · uppercase · tracked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48456"/>
            <a:ext cx="49377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B0332E"/>
                </a:solidFill>
                <a:latin typeface="Inter"/>
                <a:cs typeface="Inter"/>
              </a:rPr>
              <a:t>CURRENT SITUATION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648456"/>
            <a:ext cx="38404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 rtl="1"/>
            <a:r>
              <a:rPr sz="1300" b="0" i="0">
                <a:solidFill>
                  <a:srgbClr val="B0332E"/>
                </a:solidFill>
                <a:latin typeface="Heebo"/>
                <a:cs typeface="Heebo"/>
              </a:rPr>
              <a:t>מצב נוכחי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Inter"/>
                <a:cs typeface="Inter"/>
              </a:rPr>
              <a:t>Mono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383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0" i="0">
                <a:solidFill>
                  <a:srgbClr val="6B7078"/>
                </a:solidFill>
                <a:latin typeface="IBM Plex Mono"/>
                <a:cs typeface="IBM Plex Mono"/>
              </a:rPr>
              <a:t>IBM Plex Mono · figures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581144"/>
            <a:ext cx="49377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0" i="0">
                <a:solidFill>
                  <a:srgbClr val="1E5A8C"/>
                </a:solidFill>
                <a:latin typeface="IBM Plex Mono"/>
                <a:cs typeface="IBM Plex Mono"/>
              </a:rPr>
              <a:t>1,247  +18%  -1.3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581144"/>
            <a:ext cx="38404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E5A8C"/>
                </a:solidFill>
                <a:latin typeface="IBM Plex Mono"/>
                <a:cs typeface="IBM Plex Mono"/>
              </a:rPr>
              <a:t>‎12,400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58968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59552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Inter"/>
                <a:cs typeface="Inter"/>
              </a:rPr>
              <a:t>Hand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71032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0" i="0">
                <a:solidFill>
                  <a:srgbClr val="6B7078"/>
                </a:solidFill>
                <a:latin typeface="IBM Plex Mono"/>
                <a:cs typeface="IBM Plex Mono"/>
              </a:rPr>
              <a:t>Caveat (Latin annotations only)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513832"/>
            <a:ext cx="49377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0" i="0">
                <a:solidFill>
                  <a:srgbClr val="6B4E9E"/>
                </a:solidFill>
                <a:latin typeface="Caveat"/>
                <a:cs typeface="Caveat"/>
              </a:rPr>
              <a:t>a quick note in the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513832"/>
            <a:ext cx="38404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 rtl="1"/>
            <a:r>
              <a:rPr sz="2600" b="0" i="0">
                <a:solidFill>
                  <a:srgbClr val="6B4E9E"/>
                </a:solidFill>
                <a:latin typeface="Heebo"/>
                <a:cs typeface="Heebo"/>
              </a:rPr>
              <a:t>— (hand font: Latin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391656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Text styles, labels &amp;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סגנונות טקסט, תוויות ומספרים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Inter"/>
                <a:cs typeface="Inter"/>
              </a:rPr>
              <a:t>LABEL STYLES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854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rtl="1"/>
            <a:r>
              <a:rPr sz="1200" b="1" i="0">
                <a:solidFill>
                  <a:srgbClr val="1B1E23"/>
                </a:solidFill>
                <a:latin typeface="Heebo"/>
                <a:cs typeface="Heebo"/>
              </a:rPr>
              <a:t>סגנונות תווית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93776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i="0">
                <a:solidFill>
                  <a:srgbClr val="40454E"/>
                </a:solidFill>
                <a:latin typeface="Inter"/>
                <a:cs typeface="Inter"/>
              </a:rPr>
              <a:t>Uppercase tracked (Latin): </a:t>
            </a:r>
            <a:r>
              <a:rPr sz="1300" b="1" i="0" spc="150">
                <a:solidFill>
                  <a:srgbClr val="1B1E23"/>
                </a:solidFill>
                <a:latin typeface="Inter"/>
                <a:cs typeface="Inter"/>
              </a:rPr>
              <a:t>CURRENT SITUATION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i="0">
                <a:solidFill>
                  <a:srgbClr val="40454E"/>
                </a:solidFill>
                <a:latin typeface="Inter"/>
                <a:cs typeface="Inter"/>
              </a:rPr>
              <a:t>Hebrew plain label: </a:t>
            </a:r>
            <a:r>
              <a:rPr sz="1400" b="1" i="0">
                <a:solidFill>
                  <a:srgbClr val="1B1E23"/>
                </a:solidFill>
                <a:latin typeface="Heebo"/>
                <a:cs typeface="Heebo"/>
              </a:rPr>
              <a:t>מצב נוכחי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i="0">
                <a:solidFill>
                  <a:srgbClr val="40454E"/>
                </a:solidFill>
                <a:latin typeface="Inter"/>
                <a:cs typeface="Inter"/>
              </a:rPr>
              <a:t>Section kicker: </a:t>
            </a:r>
            <a:r>
              <a:rPr sz="1200" b="1" i="0" spc="200">
                <a:solidFill>
                  <a:srgbClr val="6B7078"/>
                </a:solidFill>
                <a:latin typeface="Inter"/>
                <a:cs typeface="Inter"/>
              </a:rPr>
              <a:t>FOUNDATIONS · 01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i="0">
                <a:solidFill>
                  <a:srgbClr val="40454E"/>
                </a:solidFill>
                <a:latin typeface="Inter"/>
                <a:cs typeface="Inter"/>
              </a:rPr>
              <a:t>Emphasis — highlight: </a:t>
            </a:r>
            <a:r>
              <a:rPr sz="1600" b="1" i="0">
                <a:solidFill>
                  <a:srgbClr val="1B1E23"/>
                </a:solidFill>
                <a:latin typeface="Caveat"/>
                <a:cs typeface="Caveat"/>
              </a:rPr>
              <a:t>key takeaway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i="0">
                <a:solidFill>
                  <a:srgbClr val="40454E"/>
                </a:solidFill>
                <a:latin typeface="Inter"/>
                <a:cs typeface="Inter"/>
              </a:rPr>
              <a:t>Emphasis — circle a number: </a:t>
            </a:r>
            <a:r>
              <a:rPr sz="1500" b="1" i="0">
                <a:solidFill>
                  <a:srgbClr val="B0332E"/>
                </a:solidFill>
                <a:latin typeface="Inter"/>
                <a:cs typeface="Inter"/>
              </a:rPr>
              <a:t>78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i="0">
                <a:solidFill>
                  <a:srgbClr val="40454E"/>
                </a:solidFill>
                <a:latin typeface="Inter"/>
                <a:cs typeface="Inter"/>
              </a:rPr>
              <a:t>Rejected idea (strike): </a:t>
            </a:r>
            <a:r>
              <a:rPr sz="1300" b="0" i="1">
                <a:solidFill>
                  <a:srgbClr val="6B7078"/>
                </a:solidFill>
                <a:latin typeface="Inter"/>
                <a:cs typeface="Inter"/>
              </a:rPr>
              <a:t>old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78308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6596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Inter"/>
                <a:cs typeface="Inter"/>
              </a:rPr>
              <a:t>NUMBERS &amp; DELTAS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8541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rtl="1"/>
            <a:r>
              <a:rPr sz="1200" b="1" i="0">
                <a:solidFill>
                  <a:srgbClr val="1B1E23"/>
                </a:solidFill>
                <a:latin typeface="Heebo"/>
                <a:cs typeface="Heebo"/>
              </a:rPr>
              <a:t>מספרים ודלתאות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560320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40454E"/>
                </a:solidFill>
                <a:latin typeface="Inter"/>
                <a:cs typeface="Inter"/>
              </a:rPr>
              <a:t>Big KPI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560320"/>
            <a:ext cx="21031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2400" b="1" i="0">
                <a:solidFill>
                  <a:srgbClr val="1B1E23"/>
                </a:solidFill>
                <a:latin typeface="IBM Plex Mono"/>
                <a:cs typeface="IBM Plex Mono"/>
              </a:rPr>
              <a:t>1,247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218688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40454E"/>
                </a:solidFill>
                <a:latin typeface="Inter"/>
                <a:cs typeface="Inter"/>
              </a:rPr>
              <a:t>Positive delta (good)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18688"/>
            <a:ext cx="21031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800" b="1" i="0">
                <a:solidFill>
                  <a:srgbClr val="3F7A44"/>
                </a:solidFill>
                <a:latin typeface="IBM Plex Mono"/>
                <a:cs typeface="IBM Plex Mono"/>
              </a:rPr>
              <a:t>+18%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877056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40454E"/>
                </a:solidFill>
                <a:latin typeface="Inter"/>
                <a:cs typeface="Inter"/>
              </a:rPr>
              <a:t>Negative delta (bad)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877056"/>
            <a:ext cx="21031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800" b="1" i="0">
                <a:solidFill>
                  <a:srgbClr val="B0332E"/>
                </a:solidFill>
                <a:latin typeface="IBM Plex Mono"/>
                <a:cs typeface="IBM Plex Mono"/>
              </a:rPr>
              <a:t>-9%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40454E"/>
                </a:solidFill>
                <a:latin typeface="Inter"/>
                <a:cs typeface="Inter"/>
              </a:rPr>
              <a:t>Negative-is-good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535424"/>
            <a:ext cx="21031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800" b="1" i="0">
                <a:solidFill>
                  <a:srgbClr val="3F7A44"/>
                </a:solidFill>
                <a:latin typeface="IBM Plex Mono"/>
                <a:cs typeface="IBM Plex Mono"/>
              </a:rPr>
              <a:t>-1.3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193792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40454E"/>
                </a:solidFill>
                <a:latin typeface="Inter"/>
                <a:cs typeface="Inter"/>
              </a:rPr>
              <a:t>Hebrew + LTR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5193792"/>
            <a:ext cx="21031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 rtl="1"/>
            <a:r>
              <a:rPr sz="1600" b="1" i="0">
                <a:solidFill>
                  <a:srgbClr val="1B1E23"/>
                </a:solidFill>
                <a:latin typeface="Heebo"/>
                <a:cs typeface="Heebo"/>
              </a:rPr>
              <a:t>זמן מענה 9 ימים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580644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i="1">
                <a:solidFill>
                  <a:srgbClr val="6B7078"/>
                </a:solidFill>
                <a:latin typeface="Inter"/>
                <a:cs typeface="Inter"/>
              </a:rPr>
              <a:t>Rule: color deltas by meaning, not by 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Icon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ספריית אייקונים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ASSETS · 70+ GLYPHS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828800"/>
            <a:ext cx="621792" cy="621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8" y="2487168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mail</a:t>
            </a:r>
          </a:p>
        </p:txBody>
      </p:sp>
      <p:pic>
        <p:nvPicPr>
          <p:cNvPr id="8" name="Picture 7" descr="icon-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1828800"/>
            <a:ext cx="621792" cy="621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4792" y="2487168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phone</a:t>
            </a:r>
          </a:p>
        </p:txBody>
      </p:sp>
      <p:pic>
        <p:nvPicPr>
          <p:cNvPr id="10" name="Picture 9" descr="icon-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828800"/>
            <a:ext cx="621792" cy="621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08376" y="2487168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clock</a:t>
            </a:r>
          </a:p>
        </p:txBody>
      </p:sp>
      <p:pic>
        <p:nvPicPr>
          <p:cNvPr id="12" name="Picture 11" descr="icon-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1828800"/>
            <a:ext cx="621792" cy="621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51960" y="2487168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user</a:t>
            </a:r>
          </a:p>
        </p:txBody>
      </p:sp>
      <p:pic>
        <p:nvPicPr>
          <p:cNvPr id="14" name="Picture 13" descr="icon-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1828800"/>
            <a:ext cx="621792" cy="6217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95544" y="2487168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users</a:t>
            </a:r>
          </a:p>
        </p:txBody>
      </p:sp>
      <p:pic>
        <p:nvPicPr>
          <p:cNvPr id="16" name="Picture 15" descr="icon-chart-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744" y="1828800"/>
            <a:ext cx="621792" cy="621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39128" y="2487168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chart-bar</a:t>
            </a:r>
          </a:p>
        </p:txBody>
      </p:sp>
      <p:pic>
        <p:nvPicPr>
          <p:cNvPr id="18" name="Picture 17" descr="icon-chart-p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1828800"/>
            <a:ext cx="621792" cy="6217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2712" y="2487168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chart-pie</a:t>
            </a:r>
          </a:p>
        </p:txBody>
      </p:sp>
      <p:pic>
        <p:nvPicPr>
          <p:cNvPr id="20" name="Picture 19" descr="icon-tar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2912" y="1828800"/>
            <a:ext cx="621792" cy="6217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26296" y="2487168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target</a:t>
            </a:r>
          </a:p>
        </p:txBody>
      </p:sp>
      <p:pic>
        <p:nvPicPr>
          <p:cNvPr id="22" name="Picture 21" descr="icon-trend-u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6496" y="1828800"/>
            <a:ext cx="621792" cy="6217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69880" y="2487168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trend-up</a:t>
            </a:r>
          </a:p>
        </p:txBody>
      </p:sp>
      <p:pic>
        <p:nvPicPr>
          <p:cNvPr id="24" name="Picture 23" descr="icon-trend-dow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824" y="2999232"/>
            <a:ext cx="621792" cy="6217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1208" y="3657600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trend-down</a:t>
            </a:r>
          </a:p>
        </p:txBody>
      </p:sp>
      <p:pic>
        <p:nvPicPr>
          <p:cNvPr id="26" name="Picture 25" descr="icon-cpu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1408" y="2999232"/>
            <a:ext cx="621792" cy="6217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64792" y="3657600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cpu</a:t>
            </a:r>
          </a:p>
        </p:txBody>
      </p:sp>
      <p:pic>
        <p:nvPicPr>
          <p:cNvPr id="28" name="Picture 27" descr="icon-robo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64992" y="2999232"/>
            <a:ext cx="621792" cy="6217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008376" y="3657600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robot</a:t>
            </a:r>
          </a:p>
        </p:txBody>
      </p:sp>
      <p:pic>
        <p:nvPicPr>
          <p:cNvPr id="30" name="Picture 29" descr="icon-sparkl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8576" y="2999232"/>
            <a:ext cx="621792" cy="6217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51960" y="3657600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sparkle</a:t>
            </a:r>
          </a:p>
        </p:txBody>
      </p:sp>
      <p:pic>
        <p:nvPicPr>
          <p:cNvPr id="32" name="Picture 31" descr="icon-shield-chec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2160" y="2999232"/>
            <a:ext cx="621792" cy="6217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95544" y="3657600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shield-check</a:t>
            </a:r>
          </a:p>
        </p:txBody>
      </p:sp>
      <p:pic>
        <p:nvPicPr>
          <p:cNvPr id="34" name="Picture 33" descr="icon-warnin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95744" y="2999232"/>
            <a:ext cx="621792" cy="62179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39128" y="3657600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warning</a:t>
            </a:r>
          </a:p>
        </p:txBody>
      </p:sp>
      <p:pic>
        <p:nvPicPr>
          <p:cNvPr id="36" name="Picture 35" descr="icon-chec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9328" y="2999232"/>
            <a:ext cx="621792" cy="62179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82712" y="3657600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check</a:t>
            </a:r>
          </a:p>
        </p:txBody>
      </p:sp>
      <p:pic>
        <p:nvPicPr>
          <p:cNvPr id="38" name="Picture 37" descr="icon-rocke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82912" y="2999232"/>
            <a:ext cx="621792" cy="6217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226296" y="3657600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rocket</a:t>
            </a:r>
          </a:p>
        </p:txBody>
      </p:sp>
      <p:pic>
        <p:nvPicPr>
          <p:cNvPr id="40" name="Picture 39" descr="icon-lightbul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6496" y="2999232"/>
            <a:ext cx="621792" cy="62179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469880" y="3657600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lightbulb</a:t>
            </a:r>
          </a:p>
        </p:txBody>
      </p:sp>
      <p:pic>
        <p:nvPicPr>
          <p:cNvPr id="42" name="Picture 41" descr="icon-calenda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7824" y="4169664"/>
            <a:ext cx="621792" cy="62179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21208" y="4828032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calendar</a:t>
            </a:r>
          </a:p>
        </p:txBody>
      </p:sp>
      <p:pic>
        <p:nvPicPr>
          <p:cNvPr id="44" name="Picture 43" descr="icon-gea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21408" y="4169664"/>
            <a:ext cx="621792" cy="62179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64792" y="4828032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gear</a:t>
            </a:r>
          </a:p>
        </p:txBody>
      </p:sp>
      <p:pic>
        <p:nvPicPr>
          <p:cNvPr id="46" name="Picture 45" descr="icon-databas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64992" y="4169664"/>
            <a:ext cx="621792" cy="62179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008376" y="4828032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database</a:t>
            </a:r>
          </a:p>
        </p:txBody>
      </p:sp>
      <p:pic>
        <p:nvPicPr>
          <p:cNvPr id="48" name="Picture 47" descr="icon-glob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08576" y="4169664"/>
            <a:ext cx="621792" cy="6217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251960" y="4828032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globe</a:t>
            </a:r>
          </a:p>
        </p:txBody>
      </p:sp>
      <p:pic>
        <p:nvPicPr>
          <p:cNvPr id="50" name="Picture 49" descr="icon-search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52160" y="4169664"/>
            <a:ext cx="621792" cy="62179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495544" y="4828032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search</a:t>
            </a:r>
          </a:p>
        </p:txBody>
      </p:sp>
      <p:pic>
        <p:nvPicPr>
          <p:cNvPr id="52" name="Picture 51" descr="icon-flag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95744" y="4169664"/>
            <a:ext cx="621792" cy="62179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739128" y="4828032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flag</a:t>
            </a:r>
          </a:p>
        </p:txBody>
      </p:sp>
      <p:pic>
        <p:nvPicPr>
          <p:cNvPr id="54" name="Picture 53" descr="icon-sta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39328" y="4169664"/>
            <a:ext cx="621792" cy="62179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982712" y="4828032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star</a:t>
            </a:r>
          </a:p>
        </p:txBody>
      </p:sp>
      <p:pic>
        <p:nvPicPr>
          <p:cNvPr id="56" name="Picture 55" descr="icon-handshak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82912" y="4169664"/>
            <a:ext cx="621792" cy="62179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226296" y="4828032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handshake</a:t>
            </a:r>
          </a:p>
        </p:txBody>
      </p:sp>
      <p:pic>
        <p:nvPicPr>
          <p:cNvPr id="58" name="Picture 57" descr="icon-building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6496" y="4169664"/>
            <a:ext cx="621792" cy="62179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469880" y="4828032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building</a:t>
            </a:r>
          </a:p>
        </p:txBody>
      </p:sp>
      <p:pic>
        <p:nvPicPr>
          <p:cNvPr id="60" name="Picture 59" descr="icon-map-pin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7824" y="5340096"/>
            <a:ext cx="621792" cy="62179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21208" y="5998464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map-pin</a:t>
            </a:r>
          </a:p>
        </p:txBody>
      </p:sp>
      <p:pic>
        <p:nvPicPr>
          <p:cNvPr id="62" name="Picture 61" descr="icon-file-text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21408" y="5340096"/>
            <a:ext cx="621792" cy="62179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764792" y="5998464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file-text</a:t>
            </a:r>
          </a:p>
        </p:txBody>
      </p:sp>
      <p:pic>
        <p:nvPicPr>
          <p:cNvPr id="64" name="Picture 63" descr="icon-lo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364992" y="5340096"/>
            <a:ext cx="621792" cy="62179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008376" y="5998464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lock</a:t>
            </a:r>
          </a:p>
        </p:txBody>
      </p:sp>
      <p:pic>
        <p:nvPicPr>
          <p:cNvPr id="66" name="Picture 65" descr="icon-key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08576" y="5340096"/>
            <a:ext cx="621792" cy="62179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251960" y="5998464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key</a:t>
            </a:r>
          </a:p>
        </p:txBody>
      </p:sp>
      <p:pic>
        <p:nvPicPr>
          <p:cNvPr id="68" name="Picture 67" descr="icon-trophy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52160" y="5340096"/>
            <a:ext cx="621792" cy="62179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495544" y="5998464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trophy</a:t>
            </a:r>
          </a:p>
        </p:txBody>
      </p:sp>
      <p:pic>
        <p:nvPicPr>
          <p:cNvPr id="70" name="Picture 69" descr="icon-rout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095744" y="5340096"/>
            <a:ext cx="621792" cy="62179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739128" y="5998464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route</a:t>
            </a:r>
          </a:p>
        </p:txBody>
      </p:sp>
      <p:pic>
        <p:nvPicPr>
          <p:cNvPr id="72" name="Picture 71" descr="icon-layers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39328" y="5340096"/>
            <a:ext cx="621792" cy="62179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982712" y="5998464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layers</a:t>
            </a:r>
          </a:p>
        </p:txBody>
      </p:sp>
      <p:pic>
        <p:nvPicPr>
          <p:cNvPr id="74" name="Picture 73" descr="icon-gau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582912" y="5340096"/>
            <a:ext cx="621792" cy="62179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226296" y="5998464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gauge</a:t>
            </a:r>
          </a:p>
        </p:txBody>
      </p:sp>
      <p:pic>
        <p:nvPicPr>
          <p:cNvPr id="76" name="Picture 75" descr="icon-list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26496" y="5340096"/>
            <a:ext cx="621792" cy="62179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469880" y="5998464"/>
            <a:ext cx="12435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078"/>
                </a:solidFill>
                <a:latin typeface="IBM Plex Mono"/>
                <a:cs typeface="IBM Plex Mono"/>
              </a:rPr>
              <a:t>list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309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0" i="1">
                <a:solidFill>
                  <a:srgbClr val="6B7078"/>
                </a:solidFill>
                <a:latin typeface="Inter"/>
                <a:cs typeface="Inter"/>
              </a:rPr>
              <a:t>Own stroke set · 24×24 · round caps · currentColor · hatch-fill duotone variants · reference: &lt;use href="#icon-name"&gt;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KPI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כרטיסי מדד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95728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06324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1" i="0">
                <a:solidFill>
                  <a:srgbClr val="B0332E"/>
                </a:solidFill>
                <a:latin typeface="Heebo"/>
                <a:cs typeface="Heebo"/>
              </a:rPr>
              <a:t>פניות בחודש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000" b="1" i="0">
                <a:solidFill>
                  <a:srgbClr val="1B1E23"/>
                </a:solidFill>
                <a:latin typeface="IBM Plex Mono"/>
                <a:cs typeface="IBM Plex Mono"/>
              </a:rPr>
              <a:t>12,400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B0332E"/>
                </a:solidFill>
                <a:latin typeface="IBM Plex Mono"/>
                <a:cs typeface="IBM Plex Mono"/>
              </a:rPr>
              <a:t>+18%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100" b="0" i="0">
                <a:solidFill>
                  <a:srgbClr val="6B7078"/>
                </a:solidFill>
                <a:latin typeface="Heebo"/>
                <a:cs typeface="Heebo"/>
              </a:rPr>
              <a:t>מול שנה שעברה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2194560"/>
            <a:ext cx="269748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3957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29584" y="306324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1" i="0">
                <a:solidFill>
                  <a:srgbClr val="B0332E"/>
                </a:solidFill>
                <a:latin typeface="Heebo"/>
                <a:cs typeface="Heebo"/>
              </a:rPr>
              <a:t>זמן מענה ממוצע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3520440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4000" b="1" i="0">
                <a:solidFill>
                  <a:srgbClr val="1B1E23"/>
                </a:solidFill>
                <a:latin typeface="Heebo"/>
                <a:cs typeface="Heebo"/>
              </a:rPr>
              <a:t>9 ימים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434340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B0332E"/>
                </a:solidFill>
                <a:latin typeface="IBM Plex Mono"/>
                <a:cs typeface="IBM Plex Mono"/>
              </a:rPr>
              <a:t>+1.5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480060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100" b="0" i="0">
                <a:solidFill>
                  <a:srgbClr val="6B7078"/>
                </a:solidFill>
                <a:latin typeface="Heebo"/>
                <a:cs typeface="Heebo"/>
              </a:rPr>
              <a:t>מול רבעון קודם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194560"/>
            <a:ext cx="269748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395728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27648" y="306324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1" i="0">
                <a:solidFill>
                  <a:srgbClr val="C1631A"/>
                </a:solidFill>
                <a:latin typeface="Heebo"/>
                <a:cs typeface="Heebo"/>
              </a:rPr>
              <a:t>שיחות ננטשות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520440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000" b="1" i="0">
                <a:solidFill>
                  <a:srgbClr val="1B1E23"/>
                </a:solidFill>
                <a:latin typeface="IBM Plex Mono"/>
                <a:cs typeface="IBM Plex Mono"/>
              </a:rPr>
              <a:t>31%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34340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C1631A"/>
                </a:solidFill>
                <a:latin typeface="IBM Plex Mono"/>
                <a:cs typeface="IBM Plex Mono"/>
              </a:rPr>
              <a:t>+6%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80060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100" b="0" i="0">
                <a:solidFill>
                  <a:srgbClr val="6B7078"/>
                </a:solidFill>
                <a:latin typeface="Heebo"/>
                <a:cs typeface="Heebo"/>
              </a:rPr>
              <a:t>מול רבעון קודם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2194560"/>
            <a:ext cx="269748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trend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2" y="2395728"/>
            <a:ext cx="548640" cy="548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25712" y="306324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1" i="0">
                <a:solidFill>
                  <a:srgbClr val="3F7A44"/>
                </a:solidFill>
                <a:latin typeface="Heebo"/>
                <a:cs typeface="Heebo"/>
              </a:rPr>
              <a:t>שביעות רצון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520440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000" b="1" i="0">
                <a:solidFill>
                  <a:srgbClr val="1B1E23"/>
                </a:solidFill>
                <a:latin typeface="IBM Plex Mono"/>
                <a:cs typeface="IBM Plex Mono"/>
              </a:rP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434340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3F7A44"/>
                </a:solidFill>
                <a:latin typeface="IBM Plex Mono"/>
                <a:cs typeface="IBM Plex Mono"/>
              </a:rPr>
              <a:t>+18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480060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100" b="0" i="0">
                <a:solidFill>
                  <a:srgbClr val="6B7078"/>
                </a:solidFill>
                <a:latin typeface="Heebo"/>
                <a:cs typeface="Heebo"/>
              </a:rPr>
              <a:t>יעד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Problem 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בעיה מול פתרון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0292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Inter"/>
                <a:cs typeface="Inter"/>
              </a:rPr>
              <a:t>CURRENT —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2257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rtl="1"/>
            <a:r>
              <a:rPr sz="1200" b="1" i="0">
                <a:solidFill>
                  <a:srgbClr val="1B1E23"/>
                </a:solidFill>
                <a:latin typeface="Heebo"/>
                <a:cs typeface="Heebo"/>
              </a:rPr>
              <a:t>היום — הכאב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57200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700" b="0" i="0">
                <a:solidFill>
                  <a:srgbClr val="1B1E23"/>
                </a:solidFill>
                <a:latin typeface="Heebo"/>
                <a:cs typeface="Heebo"/>
              </a:rPr>
              <a:t>• תהליך ידני</a:t>
            </a:r>
          </a:p>
          <a:p>
            <a:pPr algn="r" rtl="1">
              <a:spcAft>
                <a:spcPts val="1000"/>
              </a:spcAft>
            </a:pPr>
            <a:r>
              <a:rPr sz="1700" b="0" i="0">
                <a:solidFill>
                  <a:srgbClr val="1B1E23"/>
                </a:solidFill>
                <a:latin typeface="Heebo"/>
                <a:cs typeface="Heebo"/>
              </a:rPr>
              <a:t>• חוסר נראות</a:t>
            </a:r>
          </a:p>
          <a:p>
            <a:pPr algn="r" rtl="1">
              <a:spcAft>
                <a:spcPts val="1000"/>
              </a:spcAft>
            </a:pPr>
            <a:r>
              <a:rPr sz="1700" b="0" i="0">
                <a:solidFill>
                  <a:srgbClr val="1B1E23"/>
                </a:solidFill>
                <a:latin typeface="Heebo"/>
                <a:cs typeface="Heebo"/>
              </a:rPr>
              <a:t>• פניות הולכות לאיבוד</a:t>
            </a:r>
          </a:p>
          <a:p>
            <a:pPr algn="r" rtl="1">
              <a:spcAft>
                <a:spcPts val="1000"/>
              </a:spcAft>
            </a:pPr>
            <a:r>
              <a:rPr sz="1700" b="0" i="0">
                <a:solidFill>
                  <a:srgbClr val="1B1E23"/>
                </a:solidFill>
                <a:latin typeface="Heebo"/>
                <a:cs typeface="Heebo"/>
              </a:rPr>
              <a:t>• אין דוחות להנהלה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5715000" y="3749039"/>
            <a:ext cx="777240" cy="548640"/>
          </a:xfrm>
          <a:prstGeom prst="rightArrow">
            <a:avLst/>
          </a:prstGeom>
          <a:solidFill>
            <a:srgbClr val="3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11112" y="1920240"/>
            <a:ext cx="50292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210312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Inter"/>
                <a:cs typeface="Inter"/>
              </a:rPr>
              <a:t>FUTURE —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232257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rtl="1"/>
            <a:r>
              <a:rPr sz="1200" b="1" i="0">
                <a:solidFill>
                  <a:srgbClr val="1B1E23"/>
                </a:solidFill>
                <a:latin typeface="Heebo"/>
                <a:cs typeface="Heebo"/>
              </a:rPr>
              <a:t>מחר — הפתרון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2834640"/>
            <a:ext cx="457200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700" b="0" i="0">
                <a:solidFill>
                  <a:srgbClr val="1B1E23"/>
                </a:solidFill>
                <a:latin typeface="Heebo"/>
                <a:cs typeface="Heebo"/>
              </a:rPr>
              <a:t>✓ פלטפורמה מרכזית אחת</a:t>
            </a:r>
          </a:p>
          <a:p>
            <a:pPr algn="r" rtl="1">
              <a:spcAft>
                <a:spcPts val="1000"/>
              </a:spcAft>
            </a:pPr>
            <a:r>
              <a:rPr sz="1700" b="0" i="0">
                <a:solidFill>
                  <a:srgbClr val="1B1E23"/>
                </a:solidFill>
                <a:latin typeface="Heebo"/>
                <a:cs typeface="Heebo"/>
              </a:rPr>
              <a:t>✓ סיווג בסיוע AI</a:t>
            </a:r>
          </a:p>
          <a:p>
            <a:pPr algn="r" rtl="1">
              <a:spcAft>
                <a:spcPts val="1000"/>
              </a:spcAft>
            </a:pPr>
            <a:r>
              <a:rPr sz="1700" b="0" i="0">
                <a:solidFill>
                  <a:srgbClr val="1B1E23"/>
                </a:solidFill>
                <a:latin typeface="Heebo"/>
                <a:cs typeface="Heebo"/>
              </a:rPr>
              <a:t>✓ ניתוב אוטומטי לבעלים</a:t>
            </a:r>
          </a:p>
          <a:p>
            <a:pPr algn="r" rtl="1">
              <a:spcAft>
                <a:spcPts val="1000"/>
              </a:spcAft>
            </a:pPr>
            <a:r>
              <a:rPr sz="1700" b="0" i="0">
                <a:solidFill>
                  <a:srgbClr val="1B1E23"/>
                </a:solidFill>
                <a:latin typeface="Heebo"/>
                <a:cs typeface="Heebo"/>
              </a:rPr>
              <a:t>✓ דשבורד ב-Real-time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זרימת תהליך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9556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56" y="3511296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21240" y="448056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 rtl="1"/>
            <a:r>
              <a:rPr sz="1500" b="1" i="0">
                <a:solidFill>
                  <a:srgbClr val="1B1E23"/>
                </a:solidFill>
                <a:latin typeface="Heebo"/>
                <a:cs typeface="Heebo"/>
              </a:rPr>
              <a:t>קליטה</a:t>
            </a:r>
          </a:p>
        </p:txBody>
      </p:sp>
      <p:sp>
        <p:nvSpPr>
          <p:cNvPr id="9" name="Left Arrow 8"/>
          <p:cNvSpPr/>
          <p:nvPr/>
        </p:nvSpPr>
        <p:spPr>
          <a:xfrm>
            <a:off x="9011412" y="3657600"/>
            <a:ext cx="1202436" cy="274320"/>
          </a:xfrm>
          <a:prstGeom prst="leftArrow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98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76" y="3511296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66660" y="448056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 rtl="1"/>
            <a:r>
              <a:rPr sz="1500" b="1" i="0">
                <a:solidFill>
                  <a:srgbClr val="6B4E9E"/>
                </a:solidFill>
                <a:latin typeface="Heebo"/>
                <a:cs typeface="Heebo"/>
              </a:rPr>
              <a:t>סיווג AI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6656832" y="3657600"/>
            <a:ext cx="1202436" cy="274320"/>
          </a:xfrm>
          <a:prstGeom prst="leftArrow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511296"/>
            <a:ext cx="566928" cy="566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080" y="448056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 rtl="1"/>
            <a:r>
              <a:rPr sz="1500" b="1" i="0">
                <a:solidFill>
                  <a:srgbClr val="1B1E23"/>
                </a:solidFill>
                <a:latin typeface="Heebo"/>
                <a:cs typeface="Heebo"/>
              </a:rPr>
              <a:t>ניתוב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4302252" y="3657600"/>
            <a:ext cx="1202436" cy="274320"/>
          </a:xfrm>
          <a:prstGeom prst="leftArrow">
            <a:avLst/>
          </a:prstGeom>
          <a:solidFill>
            <a:srgbClr val="6B7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3182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716" y="3511296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57500" y="448056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 rtl="1"/>
            <a:r>
              <a:rPr sz="1500" b="1" i="0">
                <a:solidFill>
                  <a:srgbClr val="3F7A44"/>
                </a:solidFill>
                <a:latin typeface="Heebo"/>
                <a:cs typeface="Heebo"/>
              </a:rPr>
              <a:t>טיפול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1947672" y="3657600"/>
            <a:ext cx="1202436" cy="274320"/>
          </a:xfrm>
          <a:prstGeom prst="leftArrow">
            <a:avLst/>
          </a:prstGeom>
          <a:solidFill>
            <a:srgbClr val="6B7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chart-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3511296"/>
            <a:ext cx="566928" cy="566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20" y="448056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 rtl="1"/>
            <a:r>
              <a:rPr sz="1500" b="1" i="0">
                <a:solidFill>
                  <a:srgbClr val="1B1E23"/>
                </a:solidFill>
                <a:latin typeface="Heebo"/>
                <a:cs typeface="Heebo"/>
              </a:rPr>
              <a:t>מדידה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 i="0">
                <a:solidFill>
                  <a:srgbClr val="40454E"/>
                </a:solidFill>
                <a:latin typeface="Inter"/>
                <a:cs typeface="Inter"/>
              </a:rPr>
              <a:t>One AI step (purple) in an otherwise human flow — right-to-left reading order.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תרשימים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COMPONENTS · NATIVE &amp; EDITABLE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20240"/>
          <a:ext cx="35661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627632"/>
            <a:ext cx="35661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40454E"/>
                </a:solidFill>
                <a:latin typeface="Inter"/>
                <a:cs typeface="Inter"/>
              </a:rPr>
              <a:t>By channel — לפי ערוץ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297680" y="1920240"/>
          <a:ext cx="35661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0" y="1627632"/>
            <a:ext cx="35661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40454E"/>
                </a:solidFill>
                <a:latin typeface="Inter"/>
                <a:cs typeface="Inter"/>
              </a:rPr>
              <a:t>By department — לפי מחלקה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0" y="1920240"/>
          <a:ext cx="3611880" cy="4023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1627632"/>
            <a:ext cx="35661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40454E"/>
                </a:solidFill>
                <a:latin typeface="Inter"/>
                <a:cs typeface="Inter"/>
              </a:rPr>
              <a:t>Response time trend — מגמת זמן מענה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טבלת השוואה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12264"/>
                <a:gridCol w="2112264"/>
                <a:gridCol w="2112264"/>
              </a:tblGrid>
              <a:tr h="658368"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40454E"/>
                          </a:solidFill>
                          <a:latin typeface="Heebo"/>
                          <a:cs typeface="Heebo"/>
                        </a:rPr>
                        <a:t>Metric / מדד</a:t>
                      </a:r>
                    </a:p>
                  </a:txBody>
                  <a:tcPr anchor="ctr" marL="101600" marR="101600" marT="25400" marB="25400">
                    <a:solidFill>
                      <a:srgbClr val="F3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0454E"/>
                          </a:solidFill>
                          <a:latin typeface="Heebo"/>
                          <a:cs typeface="Heebo"/>
                        </a:rPr>
                        <a:t>Today / היום</a:t>
                      </a:r>
                    </a:p>
                  </a:txBody>
                  <a:tcPr anchor="ctr" marL="101600" marR="101600" marT="25400" marB="25400">
                    <a:solidFill>
                      <a:srgbClr val="F3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0454E"/>
                          </a:solidFill>
                          <a:latin typeface="Heebo"/>
                          <a:cs typeface="Heebo"/>
                        </a:rPr>
                        <a:t>Target / יעד</a:t>
                      </a:r>
                    </a:p>
                  </a:txBody>
                  <a:tcPr anchor="ctr" marL="101600" marR="101600" marT="25400" marB="25400">
                    <a:solidFill>
                      <a:srgbClr val="F3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0454E"/>
                          </a:solidFill>
                          <a:latin typeface="Inter"/>
                          <a:cs typeface="Inter"/>
                        </a:rPr>
                        <a:t>Δ</a:t>
                      </a:r>
                    </a:p>
                  </a:txBody>
                  <a:tcPr anchor="ctr" marL="101600" marR="101600" marT="25400" marB="25400">
                    <a:solidFill>
                      <a:srgbClr val="F3F1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B1E23"/>
                          </a:solidFill>
                          <a:latin typeface="Heebo"/>
                          <a:cs typeface="Heebo"/>
                        </a:rPr>
                        <a:t>Response time · זמן מענה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B0332E"/>
                          </a:solidFill>
                          <a:latin typeface="Inter"/>
                          <a:cs typeface="Inter"/>
                        </a:rPr>
                        <a:t>9 days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3F7A44"/>
                          </a:solidFill>
                          <a:latin typeface="Inter"/>
                          <a:cs typeface="Inter"/>
                        </a:rPr>
                        <a:t>&lt;3 days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1E23"/>
                          </a:solidFill>
                          <a:latin typeface="Inter"/>
                          <a:cs typeface="Inter"/>
                        </a:rPr>
                        <a:t>-67%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B1E23"/>
                          </a:solidFill>
                          <a:latin typeface="Heebo"/>
                          <a:cs typeface="Heebo"/>
                        </a:rPr>
                        <a:t>Abandoned calls · שיחות ננטשות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B0332E"/>
                          </a:solidFill>
                          <a:latin typeface="Inter"/>
                          <a:cs typeface="Inter"/>
                        </a:rPr>
                        <a:t>31%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3F7A44"/>
                          </a:solidFill>
                          <a:latin typeface="Inter"/>
                          <a:cs typeface="Inter"/>
                        </a:rPr>
                        <a:t>&lt;10%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1E23"/>
                          </a:solidFill>
                          <a:latin typeface="Inter"/>
                          <a:cs typeface="Inter"/>
                        </a:rPr>
                        <a:t>-21pt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B1E23"/>
                          </a:solidFill>
                          <a:latin typeface="Heebo"/>
                          <a:cs typeface="Heebo"/>
                        </a:rPr>
                        <a:t>First-contact resolution · פתרון בפנייה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B0332E"/>
                          </a:solidFill>
                          <a:latin typeface="Inter"/>
                          <a:cs typeface="Inter"/>
                        </a:rPr>
                        <a:t>22%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3F7A44"/>
                          </a:solidFill>
                          <a:latin typeface="Inter"/>
                          <a:cs typeface="Inter"/>
                        </a:rPr>
                        <a:t>55%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1E23"/>
                          </a:solidFill>
                          <a:latin typeface="Inter"/>
                          <a:cs typeface="Inter"/>
                        </a:rPr>
                        <a:t>×2.5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B1E23"/>
                          </a:solidFill>
                          <a:latin typeface="Heebo"/>
                          <a:cs typeface="Heebo"/>
                        </a:rPr>
                        <a:t>AI auto-classification · סיווג AI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B0332E"/>
                          </a:solidFill>
                          <a:latin typeface="Inter"/>
                          <a:cs typeface="Inter"/>
                        </a:rPr>
                        <a:t>—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3F7A44"/>
                          </a:solidFill>
                          <a:latin typeface="Inter"/>
                          <a:cs typeface="Inter"/>
                        </a:rPr>
                        <a:t>85%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1E23"/>
                          </a:solidFill>
                          <a:latin typeface="Inter"/>
                          <a:cs typeface="Inter"/>
                        </a:rPr>
                        <a:t>new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B1E23"/>
                          </a:solidFill>
                          <a:latin typeface="Heebo"/>
                          <a:cs typeface="Heebo"/>
                        </a:rPr>
                        <a:t>Satisfaction · שביעות רצון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B0332E"/>
                          </a:solidFill>
                          <a:latin typeface="Inter"/>
                          <a:cs typeface="Inter"/>
                        </a:rPr>
                        <a:t>62%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3F7A44"/>
                          </a:solidFill>
                          <a:latin typeface="Inter"/>
                          <a:cs typeface="Inter"/>
                        </a:rPr>
                        <a:t>80%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1E23"/>
                          </a:solidFill>
                          <a:latin typeface="Inter"/>
                          <a:cs typeface="Inter"/>
                        </a:rPr>
                        <a:t>+18pt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מפת דרכים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974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3F7A44"/>
                </a:solidFill>
                <a:latin typeface="Fraunces"/>
                <a:cs typeface="Fraunces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240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40454E"/>
                </a:solidFill>
                <a:latin typeface="Inter"/>
                <a:cs typeface="Inter"/>
              </a:rPr>
              <a:t>Done · הושלם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22402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מיפוי תהליכים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בחירת פלטפורמה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פיילוט ראשון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920240"/>
            <a:ext cx="26974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210312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C1631A"/>
                </a:solidFill>
                <a:latin typeface="Fraunces"/>
                <a:cs typeface="Fraunces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743200"/>
            <a:ext cx="2240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40454E"/>
                </a:solidFill>
                <a:latin typeface="Inter"/>
                <a:cs typeface="Inter"/>
              </a:rPr>
              <a:t>In progress · בתהליך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3291840"/>
            <a:ext cx="22402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הגירת נתונים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חיבור טלפוניה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הדרכת נציגים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920240"/>
            <a:ext cx="26974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10312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E5A8C"/>
                </a:solidFill>
                <a:latin typeface="Fraunces"/>
                <a:cs typeface="Fraunces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743200"/>
            <a:ext cx="2240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40454E"/>
                </a:solidFill>
                <a:latin typeface="Inter"/>
                <a:cs typeface="Inter"/>
              </a:rPr>
              <a:t>Next · בהמשך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291840"/>
            <a:ext cx="22402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עלייה לאוויר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הפעלת AI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דשבורד הנהלה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1920240"/>
            <a:ext cx="26974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210312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E5A8C"/>
                </a:solidFill>
                <a:latin typeface="Fraunces"/>
                <a:cs typeface="Fraunces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743200"/>
            <a:ext cx="2240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40454E"/>
                </a:solidFill>
                <a:latin typeface="Inter"/>
                <a:cs typeface="Inter"/>
              </a:rPr>
              <a:t>Next · בהמשך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291840"/>
            <a:ext cx="22402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אפליקציית תושבים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טיוטות AI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Heebo"/>
                <a:cs typeface="Heebo"/>
              </a:rPr>
              <a:t>• מדידת יעדים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סיכונים ומענים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6118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5740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651760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600" b="1" i="0">
                <a:solidFill>
                  <a:srgbClr val="C1631A"/>
                </a:solidFill>
                <a:latin typeface="Heebo"/>
                <a:cs typeface="Heebo"/>
              </a:rPr>
              <a:t>איכות דאטה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461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 i="0">
                <a:solidFill>
                  <a:srgbClr val="1B1E23"/>
                </a:solidFill>
                <a:latin typeface="Heebo"/>
                <a:cs typeface="Heebo"/>
              </a:rPr>
              <a:t>• כפילויות בין קבצים</a:t>
            </a:r>
          </a:p>
          <a:p>
            <a:pPr algn="r" rtl="1">
              <a:spcAft>
                <a:spcPts val="600"/>
              </a:spcAft>
            </a:pPr>
            <a:r>
              <a:rPr sz="1300" b="0" i="0">
                <a:solidFill>
                  <a:srgbClr val="1B1E23"/>
                </a:solidFill>
                <a:latin typeface="Heebo"/>
                <a:cs typeface="Heebo"/>
              </a:rPr>
              <a:t>• שדות חסרים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6118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5740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07992" y="2651760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600" b="1" i="0">
                <a:solidFill>
                  <a:srgbClr val="C1631A"/>
                </a:solidFill>
                <a:latin typeface="Heebo"/>
                <a:cs typeface="Heebo"/>
              </a:rPr>
              <a:t>התנגדות עובדים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3108960"/>
            <a:ext cx="32461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 i="0">
                <a:solidFill>
                  <a:srgbClr val="1B1E23"/>
                </a:solidFill>
                <a:latin typeface="Heebo"/>
                <a:cs typeface="Heebo"/>
              </a:rPr>
              <a:t>• חשש מהחלפת תפקיד</a:t>
            </a:r>
          </a:p>
          <a:p>
            <a:pPr algn="r" rtl="1">
              <a:spcAft>
                <a:spcPts val="600"/>
              </a:spcAft>
            </a:pPr>
            <a:r>
              <a:rPr sz="1300" b="0" i="0">
                <a:solidFill>
                  <a:srgbClr val="1B1E23"/>
                </a:solidFill>
                <a:latin typeface="Heebo"/>
                <a:cs typeface="Heebo"/>
              </a:rPr>
              <a:t>• הרגלי Excel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6118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205740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4464" y="2651760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600" b="1" i="0">
                <a:solidFill>
                  <a:srgbClr val="C1631A"/>
                </a:solidFill>
                <a:latin typeface="Heebo"/>
                <a:cs typeface="Heebo"/>
              </a:rPr>
              <a:t>דיוק סיווג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108960"/>
            <a:ext cx="32461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 i="0">
                <a:solidFill>
                  <a:srgbClr val="1B1E23"/>
                </a:solidFill>
                <a:latin typeface="Heebo"/>
                <a:cs typeface="Heebo"/>
              </a:rPr>
              <a:t>• שפה מעורבת</a:t>
            </a:r>
          </a:p>
          <a:p>
            <a:pPr algn="r" rtl="1">
              <a:spcAft>
                <a:spcPts val="600"/>
              </a:spcAft>
            </a:pPr>
            <a:r>
              <a:rPr sz="1300" b="0" i="0">
                <a:solidFill>
                  <a:srgbClr val="1B1E23"/>
                </a:solidFill>
                <a:latin typeface="Heebo"/>
                <a:cs typeface="Heebo"/>
              </a:rPr>
              <a:t>• קטגוריות נדירות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091672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Inter"/>
                <a:cs typeface="Inter"/>
              </a:rPr>
              <a:t>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74336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rtl="1"/>
            <a:r>
              <a:rPr sz="1200" b="1" i="0">
                <a:solidFill>
                  <a:srgbClr val="1B1E23"/>
                </a:solidFill>
                <a:latin typeface="Heebo"/>
                <a:cs typeface="Heebo"/>
              </a:rPr>
              <a:t>מנגנוני מענה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1500" b="0" i="0">
                <a:solidFill>
                  <a:srgbClr val="1B1E23"/>
                </a:solidFill>
                <a:latin typeface="Heebo"/>
                <a:cs typeface="Heebo"/>
              </a:rPr>
              <a:t>✓ ניקוי דאטה לפני הגירה   ✓ שגרירי שינוי בכל מחלקה   ✓ אדם מאשר כל מענה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Fraunces"/>
                <a:cs typeface="Fraunces"/>
              </a:rPr>
              <a:t>2×2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Frank Ruhl Libre"/>
                <a:cs typeface="Frank Ruhl Libre"/>
              </a:rPr>
              <a:t>מטריצה 2×2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200">
                <a:solidFill>
                  <a:srgbClr val="6B7078"/>
                </a:solidFill>
                <a:latin typeface="Inter"/>
                <a:cs typeface="Inter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6160" y="1920240"/>
            <a:ext cx="2011680" cy="2011680"/>
          </a:xfrm>
          <a:prstGeom prst="rect">
            <a:avLst/>
          </a:prstGeom>
          <a:solidFill>
            <a:srgbClr val="F3F1EC"/>
          </a:solidFill>
          <a:ln w="12700">
            <a:solidFill>
              <a:srgbClr val="40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0" y="192024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393192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3931920"/>
            <a:ext cx="2011680" cy="2011680"/>
          </a:xfrm>
          <a:prstGeom prst="rect">
            <a:avLst/>
          </a:prstGeom>
          <a:solidFill>
            <a:srgbClr val="F3F1EC"/>
          </a:solidFill>
          <a:ln w="12700">
            <a:solidFill>
              <a:srgbClr val="40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10312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3F7A44"/>
                </a:solidFill>
                <a:latin typeface="Inter"/>
                <a:cs typeface="Inter"/>
              </a:rPr>
              <a:t>Quick wins</a:t>
            </a:r>
          </a:p>
          <a:p>
            <a:pPr algn="l"/>
            <a:r>
              <a:rPr sz="1300" b="0" i="0">
                <a:solidFill>
                  <a:srgbClr val="40454E"/>
                </a:solidFill>
                <a:latin typeface="Heebo"/>
                <a:cs typeface="Heebo"/>
              </a:rPr>
              <a:t>זכיות מהירות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E5A8C"/>
                </a:solidFill>
                <a:latin typeface="Inter"/>
                <a:cs typeface="Inter"/>
              </a:rPr>
              <a:t>Major bets</a:t>
            </a:r>
          </a:p>
          <a:p>
            <a:pPr algn="l"/>
            <a:r>
              <a:rPr sz="1300" b="0" i="0">
                <a:solidFill>
                  <a:srgbClr val="40454E"/>
                </a:solidFill>
                <a:latin typeface="Heebo"/>
                <a:cs typeface="Heebo"/>
              </a:rPr>
              <a:t>הימורים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11480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C1631A"/>
                </a:solidFill>
                <a:latin typeface="Inter"/>
                <a:cs typeface="Inter"/>
              </a:rPr>
              <a:t>Fill-ins</a:t>
            </a:r>
          </a:p>
          <a:p>
            <a:pPr algn="l"/>
            <a:r>
              <a:rPr sz="1300" b="0" i="0">
                <a:solidFill>
                  <a:srgbClr val="40454E"/>
                </a:solidFill>
                <a:latin typeface="Heebo"/>
                <a:cs typeface="Heebo"/>
              </a:rPr>
              <a:t>משני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11480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332E"/>
                </a:solidFill>
                <a:latin typeface="Inter"/>
                <a:cs typeface="Inter"/>
              </a:rPr>
              <a:t>Reconsider</a:t>
            </a:r>
          </a:p>
          <a:p>
            <a:pPr algn="l"/>
            <a:r>
              <a:rPr sz="1300" b="0" i="0">
                <a:solidFill>
                  <a:srgbClr val="40454E"/>
                </a:solidFill>
                <a:latin typeface="Heebo"/>
                <a:cs typeface="Heebo"/>
              </a:rPr>
              <a:t>לבחון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989320"/>
            <a:ext cx="4023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1" i="0">
                <a:solidFill>
                  <a:srgbClr val="40454E"/>
                </a:solidFill>
                <a:latin typeface="Inter"/>
                <a:cs typeface="Inter"/>
              </a:rPr>
              <a:t>Effort → מאמץ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2103120" y="374904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1" i="0">
                <a:solidFill>
                  <a:srgbClr val="40454E"/>
                </a:solidFill>
                <a:latin typeface="Inter"/>
                <a:cs typeface="Inter"/>
              </a:rPr>
              <a:t>Impact → השפעה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194560"/>
            <a:ext cx="3657600" cy="3657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40454E"/>
                </a:solidFill>
                <a:latin typeface="Inter"/>
                <a:cs typeface="Inter"/>
              </a:rPr>
              <a:t>Use for prioritization, risk/impact, or effort/value trade-offs.</a:t>
            </a:r>
          </a:p>
          <a:p>
            <a:pPr algn="l"/>
            <a:r>
              <a:rPr sz="800" b="0" i="0">
                <a:solidFill>
                  <a:srgbClr val="40454E"/>
                </a:solidFill>
                <a:latin typeface="Inter"/>
                <a:cs typeface="Inter"/>
              </a:rPr>
              <a:t/>
            </a:r>
          </a:p>
          <a:p>
            <a:pPr algn="l"/>
            <a:r>
              <a:rPr sz="1500" b="0" i="0">
                <a:solidFill>
                  <a:srgbClr val="40454E"/>
                </a:solidFill>
                <a:latin typeface="Heebo"/>
                <a:cs typeface="Heebo"/>
              </a:rPr>
              <a:t>לתעדוף, סיכון מול השפעה, או מאמץ מול ערך.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4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spark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772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5200" b="1" i="0">
                <a:solidFill>
                  <a:srgbClr val="1B1E23"/>
                </a:solidFill>
                <a:latin typeface="Fraunces"/>
                <a:cs typeface="Fraunces"/>
              </a:rPr>
              <a:t>Build on-brand.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 rtl="1"/>
            <a:r>
              <a:rPr sz="2600" b="0" i="0">
                <a:solidFill>
                  <a:srgbClr val="1B4B66"/>
                </a:solidFill>
                <a:latin typeface="Frank Ruhl Libre"/>
                <a:cs typeface="Frank Ruhl Libre"/>
              </a:rPr>
              <a:t>בנו במותג — עברית ואנגלית, שש דיו, אותה שפה חזותית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40454E"/>
                </a:solidFill>
                <a:latin typeface="Inter"/>
                <a:cs typeface="Inter"/>
              </a:rPr>
              <a:t>Colors · Typography · Labels · Icons · KPIs · Problem/Solution · Flow · Charts · Table · Roadmap · Risks ·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206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6B7078"/>
                </a:solidFill>
                <a:latin typeface="IBM Plex Mono"/>
                <a:cs typeface="IBM Plex Mono"/>
              </a:rPr>
              <a:t>Workshop Design System · github.com/noamh98/workshop-design-system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5852160"/>
            <a:ext cx="274320" cy="274320"/>
          </a:xfrm>
          <a:prstGeom prst="ellipse">
            <a:avLst/>
          </a:prstGeom>
          <a:solidFill>
            <a:srgbClr val="1B1E23"/>
          </a:solidFill>
          <a:ln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5852160"/>
            <a:ext cx="274320" cy="274320"/>
          </a:xfrm>
          <a:prstGeom prst="ellipse">
            <a:avLst/>
          </a:prstGeom>
          <a:solidFill>
            <a:srgbClr val="1E5A8C"/>
          </a:solidFill>
          <a:ln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2768" y="5852160"/>
            <a:ext cx="274320" cy="274320"/>
          </a:xfrm>
          <a:prstGeom prst="ellipse">
            <a:avLst/>
          </a:prstGeom>
          <a:solidFill>
            <a:srgbClr val="B0332E"/>
          </a:solidFill>
          <a:ln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29968" y="5852160"/>
            <a:ext cx="274320" cy="274320"/>
          </a:xfrm>
          <a:prstGeom prst="ellipse">
            <a:avLst/>
          </a:prstGeom>
          <a:solidFill>
            <a:srgbClr val="3F7A44"/>
          </a:solidFill>
          <a:ln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87168" y="5852160"/>
            <a:ext cx="274320" cy="274320"/>
          </a:xfrm>
          <a:prstGeom prst="ellipse">
            <a:avLst/>
          </a:prstGeom>
          <a:solidFill>
            <a:srgbClr val="C1631A"/>
          </a:solidFill>
          <a:ln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44368" y="5852160"/>
            <a:ext cx="274320" cy="274320"/>
          </a:xfrm>
          <a:prstGeom prst="ellipse">
            <a:avLst/>
          </a:prstGeom>
          <a:solidFill>
            <a:srgbClr val="6B4E9E"/>
          </a:solidFill>
          <a:ln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